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23F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274320"/>
            <a:ext cx="2377440" cy="2377440"/>
          </a:xfrm>
          <a:prstGeom prst="ellipse">
            <a:avLst/>
          </a:prstGeom>
          <a:solidFill>
            <a:srgbClr val="16A89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502920"/>
            <a:ext cx="120284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983392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· FUNDAMENTOS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2461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web funciona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892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entre digitar um endereço e a página aparecer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digita 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23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wikipedia.org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aperta 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Enter 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cerca de um segundo a página inteira aparece. O que aconteceu nesse meio-tempo? Hoje a gente abre essa caixa-preta.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O ENDEREÇO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 servidor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pedir comida por delivery: </a:t>
            </a:r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faz o pedido, o restaurante prepara e entrega.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3F5F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834640"/>
            <a:ext cx="914400" cy="914400"/>
          </a:xfrm>
          <a:prstGeom prst="ellipse">
            <a:avLst/>
          </a:prstGeom>
          <a:solidFill>
            <a:srgbClr val="16A89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389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seu navegador (Chrome, Firefox...). Faz pedidos.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4688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3F5F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2834640"/>
            <a:ext cx="914400" cy="914400"/>
          </a:xfrm>
          <a:prstGeom prst="ellipse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4389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computador ligado 24h em algum lugar, onde o site mora. Responde os pedidos.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O ENDEREÇO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IP: o endereço numérico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servidor tem um número que o identifica na internet — o </a:t>
            </a:r>
            <a:pPr indent="0" marL="0">
              <a:buNone/>
            </a:pPr>
            <a:r>
              <a:rPr lang="en-US" sz="1800" b="1" dirty="0">
                <a:solidFill>
                  <a:srgbClr val="16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pPr indent="0" marL="0">
              <a:buNone/>
            </a:pPr>
            <a:r>
              <a:rPr lang="en-US" sz="18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7863840" cy="1371600"/>
          </a:xfrm>
          <a:prstGeom prst="roundRect">
            <a:avLst>
              <a:gd name="adj" fmla="val 8000"/>
            </a:avLst>
          </a:prstGeom>
          <a:solidFill>
            <a:srgbClr val="123F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wikipedia.org</a:t>
            </a:r>
            <a:pPr indent="0" marL="0">
              <a:buNone/>
            </a:pPr>
            <a:r>
              <a:rPr lang="en-US" sz="2000" dirty="0">
                <a:solidFill>
                  <a:srgbClr val="8FA3C4"/>
                </a:solidFill>
              </a:rPr>
              <a:t>  hoje mora em  </a:t>
            </a:r>
            <a:pPr indent="0" marL="0">
              <a:buNone/>
            </a:pPr>
            <a:r>
              <a:rPr lang="en-US" sz="2600" b="1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185.15.59.224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um número de celular: funciona perfeitamente, mas ninguém decora e ninguém quer digitar.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O ENDEREÇO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Domínio: o nome fácil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8FA3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830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23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wikipedia.org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 </a:t>
            </a:r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E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um nome que alguém registrou e apontou para aquele número.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“É o contato salvo na agenda no lugar do número cru.” Mais fácil de lembrar, de escrever e de divulgar.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O ENDEREÇO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 a agenda </a:t>
            </a:r>
            <a:pPr indent="0" marL="0">
              <a:buNone/>
            </a:pPr>
            <a:r>
              <a:rPr lang="en-US" sz="3400" b="1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internet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coisa, o navegador consulta o </a:t>
            </a:r>
            <a:pPr indent="0" marL="0">
              <a:buNone/>
            </a:pPr>
            <a:r>
              <a:rPr lang="en-US" sz="1800" b="1" dirty="0">
                <a:solidFill>
                  <a:srgbClr val="0E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85216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Qual o IP de  wikipedia.org  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03120" y="3246120"/>
            <a:ext cx="4663440" cy="777240"/>
          </a:xfrm>
          <a:prstGeom prst="roundRect">
            <a:avLst>
              <a:gd name="adj" fmla="val 16471"/>
            </a:avLst>
          </a:prstGeom>
          <a:solidFill>
            <a:srgbClr val="16A8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77440" y="3246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185.15.59.224 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serviço mundial de tradução nome → número. Só depois dessa resposta o navegador consegue fazer o pedido.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O ENDEREÇO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completo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70202" cy="3108960"/>
          </a:xfrm>
          <a:prstGeom prst="roundRect">
            <a:avLst>
              <a:gd name="adj" fmla="val 4417"/>
            </a:avLst>
          </a:prstGeom>
          <a:solidFill>
            <a:srgbClr val="F3F5F8"/>
          </a:solidFill>
          <a:ln w="25400">
            <a:solidFill>
              <a:srgbClr val="8FA3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2573" y="2194560"/>
            <a:ext cx="402336" cy="402336"/>
          </a:xfrm>
          <a:prstGeom prst="ellipse">
            <a:avLst/>
          </a:prstGeom>
          <a:solidFill>
            <a:srgbClr val="8FA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82573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88920"/>
            <a:ext cx="18507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DIGITA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337560"/>
            <a:ext cx="18507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wikipedia.org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18842" y="32461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20010" y="1965960"/>
            <a:ext cx="2070202" cy="3108960"/>
          </a:xfrm>
          <a:prstGeom prst="roundRect">
            <a:avLst>
              <a:gd name="adj" fmla="val 4417"/>
            </a:avLst>
          </a:prstGeom>
          <a:solidFill>
            <a:srgbClr val="F3F5F8"/>
          </a:solidFill>
          <a:ln w="25400">
            <a:solidFill>
              <a:srgbClr val="7D8F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3942" y="2194560"/>
            <a:ext cx="402336" cy="402336"/>
          </a:xfrm>
          <a:prstGeom prst="ellipse">
            <a:avLst/>
          </a:prstGeom>
          <a:solidFill>
            <a:srgbClr val="7D8F1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394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29738" y="2788920"/>
            <a:ext cx="18507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D8F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TRADUZ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29738" y="3337560"/>
            <a:ext cx="18507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 o IP desse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90211" y="32461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91379" y="1965960"/>
            <a:ext cx="2070202" cy="3108960"/>
          </a:xfrm>
          <a:prstGeom prst="roundRect">
            <a:avLst>
              <a:gd name="adj" fmla="val 4417"/>
            </a:avLst>
          </a:prstGeom>
          <a:solidFill>
            <a:srgbClr val="F3F5F8"/>
          </a:solidFill>
          <a:ln w="25400">
            <a:solidFill>
              <a:srgbClr val="16A8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25312" y="2194560"/>
            <a:ext cx="402336" cy="402336"/>
          </a:xfrm>
          <a:prstGeom prst="ellipse">
            <a:avLst/>
          </a:prstGeom>
          <a:solidFill>
            <a:srgbClr val="16A89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2531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01107" y="2788920"/>
            <a:ext cx="18507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RESPONDE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01107" y="3337560"/>
            <a:ext cx="18507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185.15.59.224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61581" y="32461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62749" y="1965960"/>
            <a:ext cx="2070202" cy="3108960"/>
          </a:xfrm>
          <a:prstGeom prst="roundRect">
            <a:avLst>
              <a:gd name="adj" fmla="val 4417"/>
            </a:avLst>
          </a:prstGeom>
          <a:solidFill>
            <a:srgbClr val="F3F5F8"/>
          </a:solidFill>
          <a:ln w="25400">
            <a:solidFill>
              <a:srgbClr val="B26A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96682" y="2194560"/>
            <a:ext cx="402336" cy="402336"/>
          </a:xfrm>
          <a:prstGeom prst="ellipse">
            <a:avLst/>
          </a:prstGeom>
          <a:solidFill>
            <a:srgbClr val="B26A1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9668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72477" y="2788920"/>
            <a:ext cx="18507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2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72477" y="3337560"/>
            <a:ext cx="18507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navegador pede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 IP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32950" y="32461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34118" y="1965960"/>
            <a:ext cx="2070202" cy="3108960"/>
          </a:xfrm>
          <a:prstGeom prst="roundRect">
            <a:avLst>
              <a:gd name="adj" fmla="val 4417"/>
            </a:avLst>
          </a:prstGeom>
          <a:solidFill>
            <a:srgbClr val="F3F5F8"/>
          </a:solidFill>
          <a:ln w="25400">
            <a:solidFill>
              <a:srgbClr val="123F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68051" y="2194560"/>
            <a:ext cx="402336" cy="402336"/>
          </a:xfrm>
          <a:prstGeom prst="ellipse">
            <a:avLst/>
          </a:prstGeom>
          <a:solidFill>
            <a:srgbClr val="123F6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468051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43846" y="2788920"/>
            <a:ext cx="18507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743846" y="3337560"/>
            <a:ext cx="18507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 manda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arquivos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4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RESUMO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analogia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32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123F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coordenada de GPS exata da casa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52044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32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377440"/>
            <a:ext cx="777240" cy="777240"/>
          </a:xfrm>
          <a:prstGeom prst="ellipse">
            <a:avLst/>
          </a:prstGeom>
          <a:solidFill>
            <a:srgbClr val="16A89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casa da vó, na rua tal”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52044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324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377440"/>
            <a:ext cx="777240" cy="777240"/>
          </a:xfrm>
          <a:prstGeom prst="ellipse">
            <a:avLst/>
          </a:prstGeom>
          <a:solidFill>
            <a:srgbClr val="B26A1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sabe converter um no outro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· TESTE VOCÊ MESMO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pra ver o IP na hora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terminal, digite </a:t>
            </a:r>
            <a:pPr indent="0" marL="0">
              <a:buNone/>
            </a:pPr>
            <a:r>
              <a:rPr lang="en-US" sz="1600" b="1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nslookup wikipedia.org</a:t>
            </a:r>
            <a:pPr indent="0" marL="0">
              <a:buNone/>
            </a:pPr>
            <a:r>
              <a:rPr lang="en-US" sz="16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(ou ping):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8046720" cy="1828800"/>
          </a:xfrm>
          <a:prstGeom prst="roundRect">
            <a:avLst>
              <a:gd name="adj" fmla="val 5000"/>
            </a:avLst>
          </a:prstGeom>
          <a:solidFill>
            <a:srgbClr val="123F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7589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nslookup wikipedia.org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Nome:  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wikipedia.org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Address: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185.15.59.224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Colar esse número direto no navegador às vezes abre o site — às vezes não, porque um mesmo IP pode hospedar vários domínios. Por isso o nome importa.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OS ARQUIVOS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não é </a:t>
            </a:r>
            <a:pPr indent="0" marL="0">
              <a:buNone/>
            </a:pPr>
            <a:r>
              <a:rPr lang="en-US" sz="4000" b="1" i="1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</a:t>
            </a:r>
            <a:pPr indent="0" marL="0">
              <a:buNone/>
            </a:pPr>
            <a:r>
              <a:rPr lang="en-US" sz="4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arquivo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777240" cy="777240"/>
          </a:xfrm>
          <a:prstGeom prst="ellipse">
            <a:avLst/>
          </a:prstGeom>
          <a:solidFill>
            <a:srgbClr val="F3F5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606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manda primeiro só um arquivo de texto: o </a:t>
            </a:r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E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lê esse HTML e descobre que precisa de mais um monte de coisas para montar a página.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OS ARQUIVOS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3 linguagens do navegador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017520" cy="3017520"/>
          </a:xfrm>
          <a:prstGeom prst="roundRect">
            <a:avLst>
              <a:gd name="adj" fmla="val 8485"/>
            </a:avLst>
          </a:prstGeom>
          <a:solidFill>
            <a:srgbClr val="123F63"/>
          </a:solidFill>
          <a:ln/>
          <a:effectLst>
            <a:outerShdw sx="100000" sy="100000" kx="0" ky="0" algn="bl" rotWithShape="0" blurRad="127000" dist="50800" dir="5400000">
              <a:srgbClr val="13324a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 ›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— estrutura e conteúdo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017520" cy="3017520"/>
          </a:xfrm>
          <a:prstGeom prst="roundRect">
            <a:avLst>
              <a:gd name="adj" fmla="val 8485"/>
            </a:avLst>
          </a:prstGeom>
          <a:solidFill>
            <a:srgbClr val="16A89C"/>
          </a:solidFill>
          <a:ln/>
          <a:effectLst>
            <a:outerShdw sx="100000" sy="100000" kx="0" ky="0" algn="bl" rotWithShape="0" blurRad="127000" dist="50800" dir="5400000">
              <a:srgbClr val="13324a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80560" y="2148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roupa — cor, fonte, layout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017520" cy="3017520"/>
          </a:xfrm>
          <a:prstGeom prst="roundRect">
            <a:avLst>
              <a:gd name="adj" fmla="val 8485"/>
            </a:avLst>
          </a:prstGeom>
          <a:solidFill>
            <a:srgbClr val="F2A63B"/>
          </a:solidFill>
          <a:ln/>
          <a:effectLst>
            <a:outerShdw sx="100000" sy="100000" kx="0" ky="0" algn="bl" rotWithShape="0" blurRad="127000" dist="50800" dir="5400000">
              <a:srgbClr val="13324a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38160" y="2148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músculos e cérebro — interação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as </a:t>
            </a:r>
            <a:pPr indent="0" marL="0">
              <a:buNone/>
            </a:pPr>
            <a:r>
              <a:rPr lang="en-US" sz="1700" b="1" dirty="0">
                <a:solidFill>
                  <a:srgbClr val="12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únicas três</a:t>
            </a:r>
            <a:pPr indent="0" marL="0">
              <a:buNone/>
            </a:pPr>
            <a:r>
              <a:rPr lang="en-US" sz="17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 navegador entende. Todo site, no fim, vira isto.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OS ARQUIVOS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as imagens?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</a:t>
            </a:r>
            <a:pPr indent="0" marL="0">
              <a:buNone/>
            </a:pPr>
            <a:r>
              <a:rPr lang="en-US" sz="1800" b="1" dirty="0">
                <a:solidFill>
                  <a:srgbClr val="B2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código</a:t>
            </a:r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É um arquivo separado: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19050">
            <a:solidFill>
              <a:srgbClr val="F2A6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foto.jpg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205740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19050">
            <a:solidFill>
              <a:srgbClr val="F2A6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2057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logo.png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05740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19050">
            <a:solidFill>
              <a:srgbClr val="F2A6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057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icone.svg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95160" y="205740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19050">
            <a:solidFill>
              <a:srgbClr val="F2A6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2057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fundo.webp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0C1F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063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HTML só tem uma linha apontando pra ela:  </a:t>
            </a:r>
            <a:pPr indent="0" marL="0">
              <a:buNone/>
            </a:pPr>
            <a:r>
              <a:rPr lang="en-US" sz="1500" b="1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src="foto.jpg"&gt;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6052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navegador lê essa linha, faz </a:t>
            </a:r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B2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pedido</a:t>
            </a:r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servidor só pra baixar a imagem. Mesma coisa com vídeo, áudio e as fontes.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· OS ARQUIVOS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página é uma montagem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94560" y="1609344"/>
            <a:ext cx="7680960" cy="36576"/>
          </a:xfrm>
          <a:prstGeom prst="roundRect">
            <a:avLst/>
          </a:prstGeom>
          <a:solidFill>
            <a:srgbClr val="D8DEE6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0" y="1417320"/>
            <a:ext cx="2611526" cy="420624"/>
          </a:xfrm>
          <a:prstGeom prst="roundRect">
            <a:avLst>
              <a:gd name="adj" fmla="val 10870"/>
            </a:avLst>
          </a:prstGeom>
          <a:solidFill>
            <a:srgbClr val="8FA3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293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2121408"/>
            <a:ext cx="7680960" cy="36576"/>
          </a:xfrm>
          <a:prstGeom prst="roundRect">
            <a:avLst/>
          </a:prstGeom>
          <a:solidFill>
            <a:srgbClr val="D8DEE6"/>
          </a:solidFill>
          <a:ln/>
        </p:spPr>
      </p:sp>
      <p:sp>
        <p:nvSpPr>
          <p:cNvPr id="9" name="Shape 7"/>
          <p:cNvSpPr/>
          <p:nvPr/>
        </p:nvSpPr>
        <p:spPr>
          <a:xfrm>
            <a:off x="3039466" y="1929384"/>
            <a:ext cx="1536192" cy="420624"/>
          </a:xfrm>
          <a:prstGeom prst="roundRect">
            <a:avLst>
              <a:gd name="adj" fmla="val 10870"/>
            </a:avLst>
          </a:prstGeom>
          <a:solidFill>
            <a:srgbClr val="16A89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4414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2633472"/>
            <a:ext cx="7680960" cy="36576"/>
          </a:xfrm>
          <a:prstGeom prst="roundRect">
            <a:avLst/>
          </a:prstGeom>
          <a:solidFill>
            <a:srgbClr val="D8DEE6"/>
          </a:solidFill>
          <a:ln/>
        </p:spPr>
      </p:sp>
      <p:sp>
        <p:nvSpPr>
          <p:cNvPr id="12" name="Shape 10"/>
          <p:cNvSpPr/>
          <p:nvPr/>
        </p:nvSpPr>
        <p:spPr>
          <a:xfrm>
            <a:off x="3193085" y="2441448"/>
            <a:ext cx="2227478" cy="420624"/>
          </a:xfrm>
          <a:prstGeom prst="roundRect">
            <a:avLst>
              <a:gd name="adj" fmla="val 10870"/>
            </a:avLst>
          </a:prstGeom>
          <a:solidFill>
            <a:srgbClr val="16A89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logo.png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3145536"/>
            <a:ext cx="7680960" cy="36576"/>
          </a:xfrm>
          <a:prstGeom prst="roundRect">
            <a:avLst/>
          </a:prstGeom>
          <a:solidFill>
            <a:srgbClr val="D8DEE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98848" y="2953512"/>
            <a:ext cx="1843430" cy="420624"/>
          </a:xfrm>
          <a:prstGeom prst="roundRect">
            <a:avLst>
              <a:gd name="adj" fmla="val 10870"/>
            </a:avLst>
          </a:prstGeom>
          <a:solidFill>
            <a:srgbClr val="F2A6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46557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banner.jpg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3657600"/>
            <a:ext cx="7680960" cy="36576"/>
          </a:xfrm>
          <a:prstGeom prst="roundRect">
            <a:avLst/>
          </a:prstGeom>
          <a:solidFill>
            <a:srgbClr val="D8DEE6"/>
          </a:solidFill>
          <a:ln/>
        </p:spPr>
      </p:sp>
      <p:sp>
        <p:nvSpPr>
          <p:cNvPr id="18" name="Shape 16"/>
          <p:cNvSpPr/>
          <p:nvPr/>
        </p:nvSpPr>
        <p:spPr>
          <a:xfrm>
            <a:off x="4729277" y="3465576"/>
            <a:ext cx="3610051" cy="420624"/>
          </a:xfrm>
          <a:prstGeom prst="roundRect">
            <a:avLst>
              <a:gd name="adj" fmla="val 10870"/>
            </a:avLst>
          </a:prstGeom>
          <a:solidFill>
            <a:srgbClr val="F2A6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9776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fonte.woff2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4560" y="4169664"/>
            <a:ext cx="7680960" cy="36576"/>
          </a:xfrm>
          <a:prstGeom prst="roundRect">
            <a:avLst/>
          </a:prstGeom>
          <a:solidFill>
            <a:srgbClr val="D8DEE6"/>
          </a:solidFill>
          <a:ln/>
        </p:spPr>
      </p:sp>
      <p:sp>
        <p:nvSpPr>
          <p:cNvPr id="21" name="Shape 19"/>
          <p:cNvSpPr/>
          <p:nvPr/>
        </p:nvSpPr>
        <p:spPr>
          <a:xfrm>
            <a:off x="5266944" y="3977640"/>
            <a:ext cx="1228954" cy="420624"/>
          </a:xfrm>
          <a:prstGeom prst="roundRect">
            <a:avLst>
              <a:gd name="adj" fmla="val 10870"/>
            </a:avLst>
          </a:prstGeom>
          <a:solidFill>
            <a:srgbClr val="7D8F16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709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FA3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4645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4709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A89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38728" y="4645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(CSS/JS)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4709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A63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36208" y="4645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41080" y="4709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7D8F1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33688" y="4645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212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2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DevTools (F12): dezenas de arquivos baixados, o texto primeiro, as imagens depois.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2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· 1 DE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“hackear” um site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6A89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um site real → F12 → aba Elements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16A8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título por algo engraçado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6A89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375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a cor de um texto no painel de estilos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16A89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148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Apagar uma imagem da página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12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B2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Pronto: o site tá diferente na tela. Eu invadi?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· 2 DE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aperta  F5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Voltou tudo ao normal. Todas as mudanças sumiram.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· A EXPLICAÇÃO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editou só a </a:t>
            </a:r>
            <a:pPr indent="0" marL="0">
              <a:buNone/>
            </a:pPr>
            <a:r>
              <a:rPr lang="en-US" sz="3400" b="1" i="1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cópia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2412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MEXEU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78308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cópia da página na memória do SEU navegador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02412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2004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CONTINUA INTACTO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320040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de verdade, lá no SERVIDOR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02412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617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F5 FAZ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61772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a cópia de novo, do zero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· PRA QUE SERVE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o código-fonte serve pra...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E9F7F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6A89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 pegadinha, testar uma ideia de design, estudar como o site foi feito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CEEDD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828800"/>
            <a:ext cx="502920" cy="502920"/>
          </a:xfrm>
          <a:prstGeom prst="ellipse">
            <a:avLst/>
          </a:prstGeom>
          <a:solidFill>
            <a:srgbClr val="B26A1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SERVE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4231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o site pras outras pessoas, mudar sua nota no portal da escola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0C1F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88620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spc="100" kern="0" dirty="0">
                <a:solidFill>
                  <a:srgbClr val="16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GANCHO  </a:t>
            </a:r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print pode ser forjado assim em 10 segundos. Desconfie de “provas” que são só uma imagem.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Então como os sites mudam de verdade?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2412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32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rgbClr val="123F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0312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</a:t>
            </a:r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12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acesso ao servidor</a:t>
            </a:r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edita os arquivos que ficam lá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02412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324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4023360"/>
            <a:ext cx="548640" cy="548640"/>
          </a:xfrm>
          <a:prstGeom prst="ellipse">
            <a:avLst/>
          </a:prstGeom>
          <a:solidFill>
            <a:srgbClr val="123F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65760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posta um comentário, seu navegador </a:t>
            </a:r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0E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</a:t>
            </a:r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 de volta — e o servidor </a:t>
            </a:r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0E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FECHO · VOCABULÁRIO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levar pra casa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23F63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65376" y="1737360"/>
            <a:ext cx="1261872" cy="457200"/>
          </a:xfrm>
          <a:prstGeom prst="roundRect">
            <a:avLst>
              <a:gd name="adj" fmla="val 50000"/>
            </a:avLst>
          </a:prstGeom>
          <a:solidFill>
            <a:srgbClr val="123F63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65376" y="17373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603504" cy="457200"/>
          </a:xfrm>
          <a:prstGeom prst="roundRect">
            <a:avLst>
              <a:gd name="adj" fmla="val 50000"/>
            </a:avLst>
          </a:prstGeom>
          <a:solidFill>
            <a:srgbClr val="123F63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73736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59936" y="173736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23F63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59936" y="17373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domínio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76672" y="1737360"/>
            <a:ext cx="713232" cy="457200"/>
          </a:xfrm>
          <a:prstGeom prst="roundRect">
            <a:avLst>
              <a:gd name="adj" fmla="val 50000"/>
            </a:avLst>
          </a:prstGeom>
          <a:solidFill>
            <a:srgbClr val="123F63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76672" y="17373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173736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123F63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173736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/ response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78240" y="173736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123F63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1737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765792" y="1737360"/>
            <a:ext cx="713232" cy="457200"/>
          </a:xfrm>
          <a:prstGeom prst="roundRect">
            <a:avLst>
              <a:gd name="adj" fmla="val 50000"/>
            </a:avLst>
          </a:prstGeom>
          <a:solidFill>
            <a:srgbClr val="123F63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65792" y="17373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643616" y="1737360"/>
            <a:ext cx="603504" cy="457200"/>
          </a:xfrm>
          <a:prstGeom prst="roundRect">
            <a:avLst>
              <a:gd name="adj" fmla="val 50000"/>
            </a:avLst>
          </a:prstGeom>
          <a:solidFill>
            <a:srgbClr val="123F63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643616" y="173736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304288"/>
            <a:ext cx="932688" cy="457200"/>
          </a:xfrm>
          <a:prstGeom prst="roundRect">
            <a:avLst>
              <a:gd name="adj" fmla="val 50000"/>
            </a:avLst>
          </a:prstGeom>
          <a:solidFill>
            <a:srgbClr val="123F63"/>
          </a:solidFill>
          <a:ln w="12700">
            <a:solidFill>
              <a:srgbClr val="16A89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30428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463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um site = seu navegador baixa vários arquivos de um servidor e monta tudo na sua tela, na hora.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0771632" y="6263640"/>
            <a:ext cx="88562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0" descr="C:/Users/5304/Documents/pessoal-dev/aulas-web-jogos/IMG_6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6355080"/>
            <a:ext cx="666169" cy="38404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486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2026-09-04T17:34:04Z</dcterms:created>
  <dcterms:modified xsi:type="dcterms:W3CDTF">2026-09-04T17:34:04Z</dcterms:modified>
</cp:coreProperties>
</file>