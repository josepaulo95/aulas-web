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2 da trilha. Retomar rapidamente a aula anterior (como a web funciona) antes de entrar no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com a aula anterior: o HTML é a primeira resposta do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Tirar o medo: não tem lógica, não tem variável. É etiquetar 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pra turma apontar abertura e fechamento em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ao vivo: criar o arquivo no bloco de notas e salvar como .html.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bloco central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Demonstrar apertando Enter várias vezes no editor e mostrando que nada muda.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 vazia: primeira vez que aparece uma tag sem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Perguntar: qual ficou maior? Por quê? Ninguém escreveu tamanho nenhum.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para a aula de 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Conceito novo: atributo. Vem antes da img e do link porque os dois dependem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Levar uma foto pronta na pasta pra demonstrar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Demonstrar o erro de propósito: renomear a foto e recarregar.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Mesma lógica de caminho da imagem — reforçar.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contexto histórico, bem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Primeira tag que obrigatoriamente contém outra.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Aninhamento é o conceito que mais trava depois. Insistir.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inserindo um item no meio.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o bloco teórico: tudo que viram, junto, numa página só.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Imprimir este slide como handout.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Amarra com a demo do DevTools da aula anterior: lá a mudança sumia, aqui não.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2984" cy="82296"/>
          </a:xfrm>
          <a:prstGeom prst="rect">
            <a:avLst/>
          </a:prstGeom>
          <a:solidFill>
            <a:srgbClr val="2EC9BD"/>
          </a:solidFill>
          <a:ln w="12700">
            <a:solidFill>
              <a:srgbClr val="2EC9B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2984" y="0"/>
            <a:ext cx="4062984" cy="82296"/>
          </a:xfrm>
          <a:prstGeom prst="rect">
            <a:avLst/>
          </a:prstGeom>
          <a:solidFill>
            <a:srgbClr val="C4DA3C"/>
          </a:solidFill>
          <a:ln w="12700">
            <a:solidFill>
              <a:srgbClr val="C4DA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5968" y="0"/>
            <a:ext cx="4062984" cy="82296"/>
          </a:xfrm>
          <a:prstGeom prst="rect">
            <a:avLst/>
          </a:prstGeom>
          <a:solidFill>
            <a:srgbClr val="F4AC4A"/>
          </a:solidFill>
          <a:ln w="12700">
            <a:solidFill>
              <a:srgbClr val="F4AC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2296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pic>
        <p:nvPicPr>
          <p:cNvPr id="6" name="Image 0" descr="C:\Users\5304\Documents\pessoal-dev\aulas-web-jogos\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051560"/>
            <a:ext cx="2322576" cy="1234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880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8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 · FUNDAMENTOS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1546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8920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esqueleto de toda página da web — e as primeiras tags que você vai escrever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80192" y="6016752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5304\Documents\pessoal-dev\aulas-web-jogos\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6089904"/>
            <a:ext cx="813816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ONDE A GENTE PAROU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servidor manda um arquivo de texto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659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digita o endereço, o DNS traduz, o navegador pede — e a primeira coisa que volta é o </a:t>
            </a:r>
            <a:pPr indent="0" marL="0">
              <a:buNone/>
            </a:pPr>
            <a:r>
              <a:rPr lang="en-US" sz="2000" b="1" dirty="0">
                <a:solidFill>
                  <a:srgbClr val="2E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pPr indent="0" marL="0">
              <a:buNone/>
            </a:pPr>
            <a:r>
              <a:rPr lang="en-US" sz="20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nele que o navegador descobre o que escrever na tela e quais outros arquivos ainda precisa baixar.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a gente aprende a escrever esse arquivo.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772400" y="1783080"/>
            <a:ext cx="3383280" cy="804672"/>
          </a:xfrm>
          <a:prstGeom prst="roundRect">
            <a:avLst>
              <a:gd name="adj" fmla="val 6818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73568" y="18745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 DIGITA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973568" y="21122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wikipedia.org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 rot="10800000">
            <a:off x="9354312" y="2633472"/>
            <a:ext cx="219456" cy="146304"/>
          </a:xfrm>
          <a:prstGeom prst="triangle">
            <a:avLst/>
          </a:prstGeom>
          <a:solidFill>
            <a:srgbClr val="244056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0" y="2807208"/>
            <a:ext cx="3383280" cy="804672"/>
          </a:xfrm>
          <a:prstGeom prst="roundRect">
            <a:avLst>
              <a:gd name="adj" fmla="val 6818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73568" y="2898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 RESPONDE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973568" y="31363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185.15.59.224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 rot="10800000">
            <a:off x="9354312" y="3657600"/>
            <a:ext cx="219456" cy="146304"/>
          </a:xfrm>
          <a:prstGeom prst="triangle">
            <a:avLst/>
          </a:prstGeom>
          <a:solidFill>
            <a:srgbClr val="244056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0" y="3831336"/>
            <a:ext cx="3383280" cy="804672"/>
          </a:xfrm>
          <a:prstGeom prst="roundRect">
            <a:avLst>
              <a:gd name="adj" fmla="val 6818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73568" y="392277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7973568" y="4160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navegador pede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 rot="10800000">
            <a:off x="9354312" y="4681728"/>
            <a:ext cx="219456" cy="146304"/>
          </a:xfrm>
          <a:prstGeom prst="triangle">
            <a:avLst/>
          </a:prstGeom>
          <a:solidFill>
            <a:srgbClr val="244056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0" y="4855464"/>
            <a:ext cx="3383280" cy="804672"/>
          </a:xfrm>
          <a:prstGeom prst="roundRect">
            <a:avLst>
              <a:gd name="adj" fmla="val 6818"/>
            </a:avLst>
          </a:prstGeom>
          <a:solidFill>
            <a:srgbClr val="123047"/>
          </a:solidFill>
          <a:ln w="19050">
            <a:solidFill>
              <a:srgbClr val="2EC9B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973568" y="49469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7973568" y="51846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chega o index.html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80192" y="6016752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5304\Documents\pessoal-dev\aulas-web-jogos\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6089904"/>
            <a:ext cx="813816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1 · A IDEIA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não é programação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20240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= </a:t>
            </a:r>
            <a:pPr indent="0" marL="0">
              <a:buNone/>
            </a:pPr>
            <a:r>
              <a:rPr lang="en-US" sz="21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Markup Language</a:t>
            </a:r>
            <a:pPr indent="0" marL="0">
              <a:buNone/>
            </a:pPr>
            <a:r>
              <a:rPr lang="en-US" sz="21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linguagem de </a:t>
            </a:r>
            <a:pPr indent="0" marL="0">
              <a:buNone/>
            </a:pPr>
            <a:r>
              <a:rPr lang="en-US" sz="2100" b="1" dirty="0">
                <a:solidFill>
                  <a:srgbClr val="2E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marcação</a:t>
            </a:r>
            <a:pPr indent="0" marL="0">
              <a:buNone/>
            </a:pPr>
            <a:r>
              <a:rPr lang="en-US" sz="21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06040"/>
            <a:ext cx="10177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manda o computador “fazer” nada. Você pega um texto e vai etiquetando cada pedaço: isto aqui é um título, isto é um parágrafo, isto é um link.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4023360"/>
            <a:ext cx="9994392" cy="777240"/>
          </a:xfrm>
          <a:prstGeom prst="roundRect">
            <a:avLst>
              <a:gd name="adj" fmla="val 5882"/>
            </a:avLst>
          </a:prstGeom>
          <a:solidFill>
            <a:srgbClr val="123047"/>
          </a:solidFill>
          <a:ln w="15875">
            <a:solidFill>
              <a:srgbClr val="2EC9B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151376"/>
            <a:ext cx="95371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passar marca-texto numa apostila: o conteúdo já existe, você só diz o que cada parte </a:t>
            </a:r>
            <a:pPr indent="0" marL="0">
              <a:buNone/>
            </a:pPr>
            <a:r>
              <a:rPr lang="en-US" sz="1500" b="1" i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pPr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80192" y="6016752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5304\Documents\pessoal-dev\aulas-web-jogos\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6089904"/>
            <a:ext cx="813816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1 · A IDEIA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de uma tag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0177272" cy="1600200"/>
          </a:xfrm>
          <a:prstGeom prst="roundRect">
            <a:avLst>
              <a:gd name="adj" fmla="val 3429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947672"/>
            <a:ext cx="977493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Oi, eu sou um parágrafo.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^                            ^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abre                         fecha (tem a barra /)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657600"/>
            <a:ext cx="101772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 de abertura diz onde começa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 fechamento tem uma / e diz onde termina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no meio é o conteúdo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852160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Abriu, fecha. Esqueceu de fechar → o navegador chuta — e geralmente chuta errado.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80192" y="6016752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5304\Documents\pessoal-dev\aulas-web-jogos\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6089904"/>
            <a:ext cx="813816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1 · A IDEIA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esqueleto de um arquivo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6400800" cy="3931920"/>
          </a:xfrm>
          <a:prstGeom prst="roundRect">
            <a:avLst>
              <a:gd name="adj" fmla="val 1395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947672"/>
            <a:ext cx="5998464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Minha página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tudo que aparece na tela --&gt;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269480" y="1783080"/>
            <a:ext cx="3886200" cy="1143000"/>
          </a:xfrm>
          <a:prstGeom prst="roundRect">
            <a:avLst>
              <a:gd name="adj" fmla="val 4800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0" y="19110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222199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sobre a página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(ninguém vê)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269480" y="3108960"/>
            <a:ext cx="3886200" cy="1143000"/>
          </a:xfrm>
          <a:prstGeom prst="roundRect">
            <a:avLst>
              <a:gd name="adj" fmla="val 4800"/>
            </a:avLst>
          </a:prstGeom>
          <a:solidFill>
            <a:srgbClr val="123047"/>
          </a:solidFill>
          <a:ln w="19050">
            <a:solidFill>
              <a:srgbClr val="2EC9B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0" y="32369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354787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conteúdo de verdade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(todo mundo vê)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166360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arquivo .html começa assim. Daqui pra frente, tudo que a gente escrever vai dentro do &lt;body&gt;.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80192" y="6016752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5304\Documents\pessoal-dev\aulas-web-jogos\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6089904"/>
            <a:ext cx="813816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2 · AS TAGS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tags de hoje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562356" cy="502920"/>
          </a:xfrm>
          <a:prstGeom prst="roundRect">
            <a:avLst>
              <a:gd name="adj" fmla="val 90909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965960"/>
            <a:ext cx="5623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312164" y="1965960"/>
            <a:ext cx="658368" cy="502920"/>
          </a:xfrm>
          <a:prstGeom prst="roundRect">
            <a:avLst>
              <a:gd name="adj" fmla="val 90909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12164" y="19659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171700" y="1965960"/>
            <a:ext cx="1618488" cy="502920"/>
          </a:xfrm>
          <a:prstGeom prst="roundRect">
            <a:avLst>
              <a:gd name="adj" fmla="val 90909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71700" y="1965960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 &lt;h2&gt; &lt;h3&gt;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991356" y="1965960"/>
            <a:ext cx="1138428" cy="502920"/>
          </a:xfrm>
          <a:prstGeom prst="roundRect">
            <a:avLst>
              <a:gd name="adj" fmla="val 90909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91356" y="1965960"/>
            <a:ext cx="1138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src&gt;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330952" y="1965960"/>
            <a:ext cx="1042416" cy="502920"/>
          </a:xfrm>
          <a:prstGeom prst="roundRect">
            <a:avLst>
              <a:gd name="adj" fmla="val 90909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30952" y="1965960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href&gt;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574536" y="1965960"/>
            <a:ext cx="1138428" cy="502920"/>
          </a:xfrm>
          <a:prstGeom prst="roundRect">
            <a:avLst>
              <a:gd name="adj" fmla="val 90909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74536" y="1965960"/>
            <a:ext cx="1138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 &lt;li&gt;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063240"/>
            <a:ext cx="10177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tags. Com elas você já monta uma página inteira de verdade — texto, títulos, imagens, links e listas.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023360"/>
            <a:ext cx="10177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mais de 100 tags. Ninguém decora todas: a gente aprende as que usa todo dia e consulta o resto.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80192" y="6016752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5304\Documents\pessoal-dev\aulas-web-jogos\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6089904"/>
            <a:ext cx="813816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2 · TEXTO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&lt;p&gt; — parágrafo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72768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 ESCREVE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291072" y="1572768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NAVEGADOR MOSTRA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5349240" cy="3886200"/>
          </a:xfrm>
          <a:prstGeom prst="roundRect">
            <a:avLst>
              <a:gd name="adj" fmla="val 1412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1993392"/>
            <a:ext cx="4946904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Robótica é construir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máquinas que fazem tarefas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sozinhas.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+ROBOTIC a gente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 elas.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91072" y="1828800"/>
            <a:ext cx="5349240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24405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565392" y="2084832"/>
            <a:ext cx="4800600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Robótica é construir máquinas que fazem tarefas sozinhas.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 +ROBOTIC a gente programa elas.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897880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Repare: o navegador </a:t>
            </a:r>
            <a:pPr indent="0" marL="0">
              <a:buNone/>
            </a:pPr>
            <a:r>
              <a:rPr lang="en-US" sz="13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</a:t>
            </a:r>
            <a:pPr indent="0" marL="0">
              <a:buNone/>
            </a:pPr>
            <a:r>
              <a:rPr lang="en-US" sz="13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onde você apertou Enter. Quem separa os blocos é a tag, não a tecla.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80192" y="6016752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5304\Documents\pessoal-dev\aulas-web-jogos\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6089904"/>
            <a:ext cx="813816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2 · TEXTO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&lt;br&gt; — quebra de linha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72768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 ESCREVE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291072" y="1572768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NAVEGADOR MOSTRA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5349240" cy="2926080"/>
          </a:xfrm>
          <a:prstGeom prst="roundRect">
            <a:avLst>
              <a:gd name="adj" fmla="val 1875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1993392"/>
            <a:ext cx="494690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Rua das Flores, 120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Centro — Guaratinguetá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 12500-000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91072" y="1828800"/>
            <a:ext cx="534924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24405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565392" y="2084832"/>
            <a:ext cx="480060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Rua das Flores, 120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Centro — Guaratinguetá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CEP 12500-000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937760"/>
            <a:ext cx="10177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&lt;br&gt; não fecha — não existe &lt;/br&gt;. Ela não embrulha nada.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Endereço, verso de poema, letra de música: pode. Espaço entre parágrafos: isso é trabalho do &lt;p&gt;.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80192" y="6016752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5304\Documents\pessoal-dev\aulas-web-jogos\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6089904"/>
            <a:ext cx="813816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2 · TÍTULOS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&lt;h1&gt; a &lt;h3&gt; — títulos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72768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 ESCREVE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291072" y="1572768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NAVEGADOR MOSTRA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5349240" cy="2926080"/>
          </a:xfrm>
          <a:prstGeom prst="roundRect">
            <a:avLst>
              <a:gd name="adj" fmla="val 1875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1993392"/>
            <a:ext cx="494690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 de Robótica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1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 de hoje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&lt;/h3&gt;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Vamos falar de HTML.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91072" y="1828800"/>
            <a:ext cx="534924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24405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565392" y="2057400"/>
            <a:ext cx="4800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Curso de Robótica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Módulo 1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Aula de hoje</a:t>
            </a:r>
            <a:endParaRPr lang="en-US" sz="28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Vamos falar de HTML.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029200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de h1 até h6. Você não escolheu tamanho de fonte: o navegador já tem um padrão pra cada nível.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80192" y="6016752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5304\Documents\pessoal-dev\aulas-web-jogos\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6089904"/>
            <a:ext cx="813816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2 · TÍTULOS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é hierarquia, não tamanho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65960"/>
            <a:ext cx="10177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= o assunto da página inteira — normalmente um só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= as seções · h3 = as subseções dentro delas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índice de um livro: capítulo → seção → tópico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4480560"/>
            <a:ext cx="9994392" cy="868680"/>
          </a:xfrm>
          <a:prstGeom prst="roundRect">
            <a:avLst>
              <a:gd name="adj" fmla="val 5263"/>
            </a:avLst>
          </a:prstGeom>
          <a:solidFill>
            <a:srgbClr val="123047"/>
          </a:solidFill>
          <a:ln w="15875">
            <a:solidFill>
              <a:srgbClr val="F4AC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608576"/>
            <a:ext cx="95371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 só deixar um texto maior? Isso é trabalho do </a:t>
            </a:r>
            <a:pPr indent="0" marL="0">
              <a:buNone/>
            </a:pPr>
            <a:r>
              <a:rPr lang="en-US" sz="1500" b="1" dirty="0">
                <a:solidFill>
                  <a:srgbClr val="2E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pPr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na próxima aula. Usar h1 pra isso confunde o Google e os leitores de tela.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80192" y="6016752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5304\Documents\pessoal-dev\aulas-web-jogos\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6089904"/>
            <a:ext cx="813816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ATRIBUTOS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Atributos: informação extra na tag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0177272" cy="1600200"/>
          </a:xfrm>
          <a:prstGeom prst="roundRect">
            <a:avLst>
              <a:gd name="adj" fmla="val 3429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947672"/>
            <a:ext cx="977493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"robo.jpg"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^    ^        ^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  atributo valor (entre aspas)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657600"/>
            <a:ext cx="10177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Algumas tags precisam de </a:t>
            </a:r>
            <a:pPr indent="0" marL="0">
              <a:buNone/>
            </a:pPr>
            <a:r>
              <a:rPr lang="en-US" sz="20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pPr indent="0" marL="0">
              <a:buNone/>
            </a:pPr>
            <a:r>
              <a:rPr lang="en-US" sz="20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pra funcionar. Só &lt;img&gt; não diz nada — qual imagem? O atributo </a:t>
            </a:r>
            <a:pPr indent="0" marL="0">
              <a:buNone/>
            </a:pPr>
            <a:r>
              <a:rPr lang="en-US" sz="2000" b="1" dirty="0">
                <a:solidFill>
                  <a:srgbClr val="F4A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</a:t>
            </a:r>
            <a:pPr indent="0" marL="0">
              <a:buNone/>
            </a:pPr>
            <a:r>
              <a:rPr lang="en-US" sz="20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responde isso.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800600"/>
            <a:ext cx="10177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tag pode ter vários atributos, sempre no formato nome="valor", dentro da tag de abertura.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80192" y="6016752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5304\Documents\pessoal-dev\aulas-web-jogos\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6089904"/>
            <a:ext cx="813816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IMAGENS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&lt;img&gt; — a imagem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72768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 ESCREVE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291072" y="1572768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NAVEGADOR MOSTRA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5349240" cy="2926080"/>
          </a:xfrm>
          <a:prstGeom prst="roundRect">
            <a:avLst>
              <a:gd name="adj" fmla="val 1875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1993392"/>
            <a:ext cx="494690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 robô ficou assim: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"robo.jpg"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"Foto do robô"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91072" y="1828800"/>
            <a:ext cx="534924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24405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565392" y="20574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Meu robô ficou assim: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434072" y="2350008"/>
            <a:ext cx="0" cy="256032"/>
          </a:xfrm>
          <a:prstGeom prst="line">
            <a:avLst/>
          </a:prstGeom>
          <a:noFill/>
          <a:ln w="38100">
            <a:solidFill>
              <a:srgbClr val="123F6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51776" y="2185416"/>
            <a:ext cx="164592" cy="164592"/>
          </a:xfrm>
          <a:prstGeom prst="ellipse">
            <a:avLst/>
          </a:prstGeom>
          <a:solidFill>
            <a:srgbClr val="2EC9BD"/>
          </a:solidFill>
          <a:ln w="12700">
            <a:solidFill>
              <a:srgbClr val="2EC9B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85432" y="2606040"/>
            <a:ext cx="1097280" cy="77724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38100">
            <a:solidFill>
              <a:srgbClr val="123F6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14032" y="2825496"/>
            <a:ext cx="155448" cy="155448"/>
          </a:xfrm>
          <a:prstGeom prst="ellipse">
            <a:avLst/>
          </a:prstGeom>
          <a:solidFill>
            <a:srgbClr val="2EC9BD"/>
          </a:solidFill>
          <a:ln w="12700">
            <a:solidFill>
              <a:srgbClr val="2EC9B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598664" y="2825496"/>
            <a:ext cx="155448" cy="155448"/>
          </a:xfrm>
          <a:prstGeom prst="ellipse">
            <a:avLst/>
          </a:prstGeom>
          <a:solidFill>
            <a:srgbClr val="2EC9BD"/>
          </a:solidFill>
          <a:ln w="12700">
            <a:solidFill>
              <a:srgbClr val="2EC9B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159752" y="3172968"/>
            <a:ext cx="548640" cy="0"/>
          </a:xfrm>
          <a:prstGeom prst="line">
            <a:avLst/>
          </a:prstGeom>
          <a:noFill/>
          <a:ln w="38100">
            <a:solidFill>
              <a:srgbClr val="123F6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65976" y="2788920"/>
            <a:ext cx="219456" cy="0"/>
          </a:xfrm>
          <a:prstGeom prst="line">
            <a:avLst/>
          </a:prstGeom>
          <a:noFill/>
          <a:ln w="38100">
            <a:solidFill>
              <a:srgbClr val="123F6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982712" y="2788920"/>
            <a:ext cx="219456" cy="0"/>
          </a:xfrm>
          <a:prstGeom prst="line">
            <a:avLst/>
          </a:prstGeom>
          <a:noFill/>
          <a:ln w="38100">
            <a:solidFill>
              <a:srgbClr val="123F6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14032" y="3383280"/>
            <a:ext cx="0" cy="274320"/>
          </a:xfrm>
          <a:prstGeom prst="line">
            <a:avLst/>
          </a:prstGeom>
          <a:noFill/>
          <a:ln w="38100">
            <a:solidFill>
              <a:srgbClr val="123F6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54112" y="3383280"/>
            <a:ext cx="0" cy="274320"/>
          </a:xfrm>
          <a:prstGeom prst="line">
            <a:avLst/>
          </a:prstGeom>
          <a:noFill/>
          <a:ln w="38100">
            <a:solidFill>
              <a:srgbClr val="123F6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4937760"/>
            <a:ext cx="10177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&lt;br&gt;, o &lt;img&gt; não fecha — não existe &lt;/img&gt;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= descrição da imagem: aparece se ela não carregar e é o que um leitor de tela fala pra quem não enxerga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80192" y="6016752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5304\Documents\pessoal-dev\aulas-web-jogos\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6089904"/>
            <a:ext cx="813816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IMAGENS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imagem não está dentro do HTML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74520"/>
            <a:ext cx="10177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 da aula passada? O </a:t>
            </a:r>
            <a:pPr indent="0" marL="0">
              <a:buNone/>
            </a:pPr>
            <a:r>
              <a:rPr lang="en-US" sz="1900" b="1" dirty="0">
                <a:solidFill>
                  <a:srgbClr val="F4A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</a:t>
            </a:r>
            <a:pPr indent="0" marL="0">
              <a:buNone/>
            </a:pPr>
            <a:r>
              <a:rPr lang="en-US" sz="19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só um </a:t>
            </a:r>
            <a:pPr indent="0" marL="0">
              <a:buNone/>
            </a:pPr>
            <a:r>
              <a:rPr lang="en-US" sz="19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</a:t>
            </a:r>
            <a:pPr indent="0" marL="0">
              <a:buNone/>
            </a:pPr>
            <a:r>
              <a:rPr lang="en-US" sz="19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 arquivo robo.jpg continua lá fora, sozinho — o navegador faz </a:t>
            </a:r>
            <a:pPr indent="0" marL="0">
              <a:buNone/>
            </a:pPr>
            <a:r>
              <a:rPr lang="en-US" sz="1900" b="1" dirty="0">
                <a:solidFill>
                  <a:srgbClr val="2E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 pedido</a:t>
            </a:r>
            <a:pPr indent="0" marL="0">
              <a:buNone/>
            </a:pPr>
            <a:r>
              <a:rPr lang="en-US" sz="19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ao servidor só pra baixar ele.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10177272" cy="621792"/>
          </a:xfrm>
          <a:prstGeom prst="roundRect">
            <a:avLst>
              <a:gd name="adj" fmla="val 7353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13639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src="robo.jpg"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313639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mesma pasta da sua página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3767328"/>
            <a:ext cx="10177272" cy="621792"/>
          </a:xfrm>
          <a:prstGeom prst="roundRect">
            <a:avLst>
              <a:gd name="adj" fmla="val 7353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8862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src="imagens/robo.jpg"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120640" y="38862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dentro da pasta imagens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4517136"/>
            <a:ext cx="10177272" cy="621792"/>
          </a:xfrm>
          <a:prstGeom prst="roundRect">
            <a:avLst>
              <a:gd name="adj" fmla="val 7353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6360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src="https://site.com/foto.jpg"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120640" y="463600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imagem que mora em outro site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486400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Errou o caminho ou renomeou o arquivo? A imagem some e sobra o alt. É o erro mais comum da primeira página de todo mundo.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80192" y="6016752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5304\Documents\pessoal-dev\aulas-web-jogos\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6089904"/>
            <a:ext cx="813816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LINKS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 href&gt; — o link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72768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 ESCREVE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291072" y="1572768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NAVEGADOR MOSTRA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5349240" cy="2926080"/>
          </a:xfrm>
          <a:prstGeom prst="roundRect">
            <a:avLst>
              <a:gd name="adj" fmla="val 1875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1993392"/>
            <a:ext cx="494690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Pesquise no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"https://google.com"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ou veja 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"contato.html"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página de contato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91072" y="1828800"/>
            <a:ext cx="534924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24405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565392" y="2084832"/>
            <a:ext cx="480060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Pesquise no </a:t>
            </a:r>
            <a:pPr indent="0" marL="0">
              <a:buNone/>
            </a:pPr>
            <a:r>
              <a:rPr lang="en-US" sz="1700" u="sng" dirty="0">
                <a:solidFill>
                  <a:srgbClr val="0000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ou veja a </a:t>
            </a:r>
            <a:pPr indent="0" marL="0">
              <a:buNone/>
            </a:pPr>
            <a:r>
              <a:rPr lang="en-US" sz="1700" u="sng" dirty="0">
                <a:solidFill>
                  <a:srgbClr val="0000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página de contato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937760"/>
            <a:ext cx="10177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completo (https://...) → vai pra outro site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nome do arquivo (contato.html) → vai pra outra página sua, na mesma pasta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80192" y="6016752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5304\Documents\pessoal-dev\aulas-web-jogos\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6089904"/>
            <a:ext cx="813816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LINKS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hyper do HyperText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20240"/>
            <a:ext cx="10177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link é a invenção que criou a web: páginas soltas em servidores do mundo inteiro, costuradas umas nas outras.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123047"/>
          </a:solidFill>
          <a:ln w="19050">
            <a:solidFill>
              <a:srgbClr val="2EC9B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href="https://..."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749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 site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06240" y="306324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07408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href="sobre.html"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407408" y="3749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outra página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863840" y="306324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65008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href="#final"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065008" y="3749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ponto desta página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846320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&lt;a&gt;, a internet seria só um monte de documentos que não se conhecem.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80192" y="6016752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5304\Documents\pessoal-dev\aulas-web-jogos\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6089904"/>
            <a:ext cx="813816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4 · LISTAS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&lt;ul&gt; + &lt;li&gt; — lista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72768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 ESCREVE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291072" y="1572768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NAVEGADOR MOSTRA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5349240" cy="2926080"/>
          </a:xfrm>
          <a:prstGeom prst="roundRect">
            <a:avLst>
              <a:gd name="adj" fmla="val 1875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1993392"/>
            <a:ext cx="494690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Arduino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 de distância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Dois motores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91072" y="1828800"/>
            <a:ext cx="534924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24405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702552" y="210312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Arduino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Sensor de distância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Dois motores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937760"/>
            <a:ext cx="10177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 = unordered list, a lista inteira — a “caixa”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= list item, cada item dentro dela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80192" y="6016752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5304\Documents\pessoal-dev\aulas-web-jogos\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6089904"/>
            <a:ext cx="813816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4 · LISTAS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dentro de tags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74520"/>
            <a:ext cx="10177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&lt;li&gt; mora </a:t>
            </a:r>
            <a:pPr indent="0" marL="0">
              <a:buNone/>
            </a:pPr>
            <a:r>
              <a:rPr lang="en-US" sz="20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</a:t>
            </a:r>
            <a:pPr indent="0" marL="0">
              <a:buNone/>
            </a:pPr>
            <a:r>
              <a:rPr lang="en-US" sz="20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&lt;ul&gt;. HTML é feito de caixas dentro de caixas.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10177272" cy="1280160"/>
          </a:xfrm>
          <a:prstGeom prst="roundRect">
            <a:avLst>
              <a:gd name="adj" fmla="val 4286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2724912"/>
            <a:ext cx="977493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Veja o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"kit.html"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069080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é só uma: </a:t>
            </a:r>
            <a:pPr indent="0" marL="0">
              <a:buNone/>
            </a:pPr>
            <a:r>
              <a:rPr lang="en-US" sz="1900" b="1" dirty="0">
                <a:solidFill>
                  <a:srgbClr val="2E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última que abriu é a primeira que fecha.</a:t>
            </a:r>
            <a:pPr indent="0" marL="0">
              <a:buNone/>
            </a:pPr>
            <a:r>
              <a:rPr lang="en-US" sz="19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Nunca cruze as tags.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48640" y="4846320"/>
            <a:ext cx="9994392" cy="777240"/>
          </a:xfrm>
          <a:prstGeom prst="roundRect">
            <a:avLst>
              <a:gd name="adj" fmla="val 5882"/>
            </a:avLst>
          </a:prstGeom>
          <a:solidFill>
            <a:srgbClr val="123047"/>
          </a:solidFill>
          <a:ln w="15875">
            <a:solidFill>
              <a:srgbClr val="2EC9B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4974336"/>
            <a:ext cx="95371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um nível de indentação (Tab) pra cada caixa. Não muda nada na tela, muda tudo na sua cabeça.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80192" y="6016752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5304\Documents\pessoal-dev\aulas-web-jogos\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6089904"/>
            <a:ext cx="813816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4 · BÔNUS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Trocando uma letra: &lt;ol&gt;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72768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 ESCREVE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291072" y="1572768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NAVEGADOR MOSTRA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5349240" cy="2926080"/>
          </a:xfrm>
          <a:prstGeom prst="roundRect">
            <a:avLst>
              <a:gd name="adj" fmla="val 1875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1993392"/>
            <a:ext cx="494690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Monte o chassi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Ligue os motores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Envie o código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&lt;/ol&gt;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91072" y="1828800"/>
            <a:ext cx="534924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24405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702552" y="210312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Monte o chassi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Ligue os motores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Envie o código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029200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list: quando a ordem importa, o navegador numera sozinho. Inseriu um passo no meio? Ele renumera tudo.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80192" y="6016752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5304\Documents\pessoal-dev\aulas-web-jogos\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6089904"/>
            <a:ext cx="813816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JUNTANDO TUDO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página inteira, de verdade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72768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PAGINA.HTML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291072" y="1572768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NAVEGADOR MOSTRA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5349240" cy="3886200"/>
          </a:xfrm>
          <a:prstGeom prst="roundRect">
            <a:avLst>
              <a:gd name="adj" fmla="val 1412"/>
            </a:avLst>
          </a:prstGeom>
          <a:solidFill>
            <a:srgbClr val="123047"/>
          </a:solidFill>
          <a:ln w="12700">
            <a:solidFill>
              <a:srgbClr val="2440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1993392"/>
            <a:ext cx="4946904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 robô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 desvia de obstáculos.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Peças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&lt;ul&gt;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Arduino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&lt;/ul&gt;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Feito na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"..."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+ROBOTIC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91072" y="1828800"/>
            <a:ext cx="5349240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24405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611112" y="2084832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Meu robô</a:t>
            </a:r>
            <a:endParaRPr lang="en-US" sz="2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Ele desvia de obstáculos.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Peças</a:t>
            </a:r>
            <a:endParaRPr lang="en-US" sz="26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Arduino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Sensor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611112" y="4892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Feito na </a:t>
            </a:r>
            <a:pPr indent="0" marL="0">
              <a:buNone/>
            </a:pPr>
            <a:r>
              <a:rPr lang="en-US" sz="1500" u="sng" dirty="0">
                <a:solidFill>
                  <a:srgbClr val="0000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+ROBOTIC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80192" y="6016752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5304\Documents\pessoal-dev\aulas-web-jogos\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6089904"/>
            <a:ext cx="813816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FECHO · COLA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levar pra casa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0177272" cy="502920"/>
          </a:xfrm>
          <a:prstGeom prst="rect">
            <a:avLst/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&lt;p&gt;&lt;/p&gt;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983480" y="17830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parágrafo de texto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3317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983480" y="23317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 de linha (não fecha)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2880360"/>
            <a:ext cx="10177272" cy="502920"/>
          </a:xfrm>
          <a:prstGeom prst="rect">
            <a:avLst/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8803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 &lt;h2&gt; &lt;h3&gt;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983480" y="28803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títulos, do mais importante ao menos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" y="34290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src="..." alt="..."&gt;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983480" y="34290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(não fecha)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3977640"/>
            <a:ext cx="10177272" cy="502920"/>
          </a:xfrm>
          <a:prstGeom prst="rect">
            <a:avLst/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39776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href="..."&gt;&lt;/a&gt;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983480" y="39776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para outra página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" y="4526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 &lt;li&gt;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983480" y="45262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com marcadores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640" y="5074920"/>
            <a:ext cx="10177272" cy="502920"/>
          </a:xfrm>
          <a:prstGeom prst="rect">
            <a:avLst/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9808" y="50749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 &lt;li&gt;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983480" y="50749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numerada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760720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Abriu, fecha. Tag dentro de tag, sempre na ordem. O resto é vocabulário.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2984" cy="82296"/>
          </a:xfrm>
          <a:prstGeom prst="rect">
            <a:avLst/>
          </a:prstGeom>
          <a:solidFill>
            <a:srgbClr val="2EC9BD"/>
          </a:solidFill>
          <a:ln w="12700">
            <a:solidFill>
              <a:srgbClr val="2EC9B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2984" y="0"/>
            <a:ext cx="4062984" cy="82296"/>
          </a:xfrm>
          <a:prstGeom prst="rect">
            <a:avLst/>
          </a:prstGeom>
          <a:solidFill>
            <a:srgbClr val="C4DA3C"/>
          </a:solidFill>
          <a:ln w="12700">
            <a:solidFill>
              <a:srgbClr val="C4DA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5968" y="0"/>
            <a:ext cx="4062984" cy="82296"/>
          </a:xfrm>
          <a:prstGeom prst="rect">
            <a:avLst/>
          </a:prstGeom>
          <a:solidFill>
            <a:srgbClr val="F4AC4A"/>
          </a:solidFill>
          <a:ln w="12700">
            <a:solidFill>
              <a:srgbClr val="F4AC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80192" y="6016752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\Users\5304\Documents\pessoal-dev\aulas-web-jogos\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6089904"/>
            <a:ext cx="813816" cy="4206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MÃO NA MASSA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página sobre você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828800"/>
            <a:ext cx="101772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index.html com o esqueleto (html, head, body)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&lt;h1&gt; com seu nome e um &lt;p&gt; se apresentando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&lt;h2&gt; “Do que eu gosto” + uma &lt;ul&gt; com 3 itens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&lt;img&gt; de uma foto salva na mesma pasta (com alt!)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&lt;a&gt; pro seu site ou jogo favorito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48640" y="4846320"/>
            <a:ext cx="9994392" cy="822960"/>
          </a:xfrm>
          <a:prstGeom prst="roundRect">
            <a:avLst>
              <a:gd name="adj" fmla="val 5556"/>
            </a:avLst>
          </a:prstGeom>
          <a:solidFill>
            <a:srgbClr val="123047"/>
          </a:solidFill>
          <a:ln w="15875">
            <a:solidFill>
              <a:srgbClr val="2EC9B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4974336"/>
            <a:ext cx="9537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Salve, abra no navegador, mude alguma coisa e aperte F5. Agora o arquivo é seu — a mudança </a:t>
            </a:r>
            <a:pPr indent="0" marL="0">
              <a:buNone/>
            </a:pPr>
            <a:r>
              <a:rPr lang="en-US" sz="1500" b="1" dirty="0">
                <a:solidFill>
                  <a:srgbClr val="2E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pPr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some.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na Prática</dc:title>
  <dc:subject>PptxGenJS Presentation</dc:subject>
  <dc:creator>+ROBOTIC</dc:creator>
  <cp:lastModifiedBy>+ROBOTIC</cp:lastModifiedBy>
  <cp:revision>1</cp:revision>
  <dcterms:created xsi:type="dcterms:W3CDTF">2026-09-22T12:22:16Z</dcterms:created>
  <dcterms:modified xsi:type="dcterms:W3CDTF">2026-09-22T12:22:16Z</dcterms:modified>
</cp:coreProperties>
</file>