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07647025-8394-cc68-3fb3-3822abc74b5a}">
          <p14:sldIdLst>
            <p14:sldId id="256"/>
            <p14:sldId id="257"/>
            <p14:sldId id="258"/>
          </p14:sldIdLst>
        </p14:section>
        <p14:section name="Tabelas" id="{73906077-b8b1-a09c-c288-7c108307fb8f}">
          <p14:sldIdLst>
            <p14:sldId id="259"/>
            <p14:sldId id="260"/>
            <p14:sldId id="261"/>
            <p14:sldId id="262"/>
            <p14:sldId id="263"/>
          </p14:sldIdLst>
        </p14:section>
        <p14:section name="Formulários" id="{df0f8059-fb83-5ad4-dbda-0491c45e61e9}">
          <p14:sldIdLst>
            <p14:sldId id="264"/>
            <p14:sldId id="265"/>
            <p14:sldId id="266"/>
            <p14:sldId id="267"/>
            <p14:sldId id="268"/>
            <p14:sldId id="269"/>
          </p14:sldIdLst>
        </p14:section>
        <p14:section name="Semânticas" id="{97da555b-f71f-3083-3adf-57212cc1ccea}">
          <p14:sldIdLst>
            <p14:sldId id="270"/>
            <p14:sldId id="271"/>
            <p14:sldId id="272"/>
          </p14:sldIdLst>
        </p14:section>
        <p14:section name="Fecho" id="{dffa8dea-181b-c439-400e-5f0e3f5db4ff}">
          <p14:sldIdLst>
            <p14:sldId id="273"/>
            <p14:sldId id="274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0C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73042" cy="64008"/>
          </a:xfrm>
          <a:prstGeom prst="rect">
            <a:avLst/>
          </a:prstGeom>
          <a:solidFill>
            <a:srgbClr val="2EC9BD"/>
          </a:solidFill>
          <a:ln w="12700">
            <a:solidFill>
              <a:srgbClr val="2EC9B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063898" y="0"/>
            <a:ext cx="4073042" cy="64008"/>
          </a:xfrm>
          <a:prstGeom prst="rect">
            <a:avLst/>
          </a:prstGeom>
          <a:solidFill>
            <a:srgbClr val="C4DA3C"/>
          </a:solidFill>
          <a:ln w="12700">
            <a:solidFill>
              <a:srgbClr val="C4DA3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27797" y="0"/>
            <a:ext cx="4073042" cy="64008"/>
          </a:xfrm>
          <a:prstGeom prst="rect">
            <a:avLst/>
          </a:prstGeom>
          <a:solidFill>
            <a:srgbClr val="F4AC4A"/>
          </a:solidFill>
          <a:ln w="12700">
            <a:solidFill>
              <a:srgbClr val="F4AC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6382512"/>
            <a:ext cx="11094415" cy="0"/>
          </a:xfrm>
          <a:prstGeom prst="line">
            <a:avLst/>
          </a:prstGeom>
          <a:noFill/>
          <a:ln w="9525">
            <a:solidFill>
              <a:srgbClr val="24405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282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3A6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MAIS TAGS HTML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28232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3A6B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0C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73042" cy="64008"/>
          </a:xfrm>
          <a:prstGeom prst="rect">
            <a:avLst/>
          </a:prstGeom>
          <a:solidFill>
            <a:srgbClr val="2EC9BD"/>
          </a:solidFill>
          <a:ln w="12700">
            <a:solidFill>
              <a:srgbClr val="2EC9B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063898" y="0"/>
            <a:ext cx="4073042" cy="64008"/>
          </a:xfrm>
          <a:prstGeom prst="rect">
            <a:avLst/>
          </a:prstGeom>
          <a:solidFill>
            <a:srgbClr val="C4DA3C"/>
          </a:solidFill>
          <a:ln w="12700">
            <a:solidFill>
              <a:srgbClr val="C4DA3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27797" y="0"/>
            <a:ext cx="4073042" cy="64008"/>
          </a:xfrm>
          <a:prstGeom prst="rect">
            <a:avLst/>
          </a:prstGeom>
          <a:solidFill>
            <a:srgbClr val="F4AC4A"/>
          </a:solidFill>
          <a:ln w="12700">
            <a:solidFill>
              <a:srgbClr val="F4AC4A"/>
            </a:solidFill>
            <a:prstDash val="solid"/>
          </a:ln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28232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3A6B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95728"/>
            <a:ext cx="457200" cy="0"/>
          </a:xfrm>
          <a:prstGeom prst="line">
            <a:avLst/>
          </a:prstGeom>
          <a:noFill/>
          <a:ln w="19050">
            <a:solidFill>
              <a:srgbClr val="2EC9B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417320" y="22585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AULA · HTML PARTE 2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65176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</a:t>
            </a:r>
            <a:pPr indent="0" marL="0">
              <a:buNone/>
            </a:pPr>
            <a:r>
              <a:rPr lang="en-US" sz="8800" b="1" dirty="0">
                <a:solidFill>
                  <a:srgbClr val="2EC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</a:t>
            </a:r>
            <a:endParaRPr lang="en-US" sz="8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2062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3A6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tabelas, formulários e tags que dizem o que cada parte da página é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5120640"/>
            <a:ext cx="1059180" cy="384048"/>
          </a:xfrm>
          <a:prstGeom prst="roundRect">
            <a:avLst>
              <a:gd name="adj" fmla="val 50000"/>
            </a:avLst>
          </a:prstGeom>
          <a:solidFill>
            <a:srgbClr val="123047"/>
          </a:solidFill>
          <a:ln w="9525">
            <a:solidFill>
              <a:srgbClr val="24405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5120640"/>
            <a:ext cx="10591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&lt;table&gt;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019300" y="5120640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123047"/>
          </a:solidFill>
          <a:ln w="9525">
            <a:solidFill>
              <a:srgbClr val="24405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019300" y="5120640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&lt;form&gt;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116580" y="5120640"/>
            <a:ext cx="1059180" cy="384048"/>
          </a:xfrm>
          <a:prstGeom prst="roundRect">
            <a:avLst>
              <a:gd name="adj" fmla="val 50000"/>
            </a:avLst>
          </a:prstGeom>
          <a:solidFill>
            <a:srgbClr val="123047"/>
          </a:solidFill>
          <a:ln w="9525">
            <a:solidFill>
              <a:srgbClr val="24405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116580" y="5120640"/>
            <a:ext cx="10591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&lt;input&gt;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12920" y="5120640"/>
            <a:ext cx="1059180" cy="384048"/>
          </a:xfrm>
          <a:prstGeom prst="roundRect">
            <a:avLst>
              <a:gd name="adj" fmla="val 50000"/>
            </a:avLst>
          </a:prstGeom>
          <a:solidFill>
            <a:srgbClr val="123047"/>
          </a:solidFill>
          <a:ln w="9525">
            <a:solidFill>
              <a:srgbClr val="24405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312920" y="5120640"/>
            <a:ext cx="10591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&lt;label&gt;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509260" y="5120640"/>
            <a:ext cx="1158240" cy="384048"/>
          </a:xfrm>
          <a:prstGeom prst="roundRect">
            <a:avLst>
              <a:gd name="adj" fmla="val 50000"/>
            </a:avLst>
          </a:prstGeom>
          <a:solidFill>
            <a:srgbClr val="123047"/>
          </a:solidFill>
          <a:ln w="9525">
            <a:solidFill>
              <a:srgbClr val="24405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509260" y="5120640"/>
            <a:ext cx="115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&lt;header&gt;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04660" y="5120640"/>
            <a:ext cx="1158240" cy="384048"/>
          </a:xfrm>
          <a:prstGeom prst="roundRect">
            <a:avLst>
              <a:gd name="adj" fmla="val 50000"/>
            </a:avLst>
          </a:prstGeom>
          <a:solidFill>
            <a:srgbClr val="123047"/>
          </a:solidFill>
          <a:ln w="9525">
            <a:solidFill>
              <a:srgbClr val="24405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04660" y="5120640"/>
            <a:ext cx="115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&lt;footer&gt;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365760" cy="0"/>
          </a:xfrm>
          <a:prstGeom prst="line">
            <a:avLst/>
          </a:prstGeom>
          <a:noFill/>
          <a:ln w="19050">
            <a:solidFill>
              <a:srgbClr val="2EC9B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05840" y="42976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 ONDE A GENTE PAROU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315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já sabe escrever uma página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83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93A6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JÁ ESTÃO NA SUA CAIXA DE FERRAMENTAS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685800" cy="384048"/>
          </a:xfrm>
          <a:prstGeom prst="roundRect">
            <a:avLst>
              <a:gd name="adj" fmla="val 50000"/>
            </a:avLst>
          </a:prstGeom>
          <a:solidFill>
            <a:srgbClr val="123047"/>
          </a:solidFill>
          <a:ln w="9525">
            <a:solidFill>
              <a:srgbClr val="24405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103120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371600" y="2103120"/>
            <a:ext cx="792480" cy="384048"/>
          </a:xfrm>
          <a:prstGeom prst="roundRect">
            <a:avLst>
              <a:gd name="adj" fmla="val 50000"/>
            </a:avLst>
          </a:prstGeom>
          <a:solidFill>
            <a:srgbClr val="123047"/>
          </a:solidFill>
          <a:ln w="9525">
            <a:solidFill>
              <a:srgbClr val="24405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371600" y="2103120"/>
            <a:ext cx="79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&lt;br&gt;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301240" y="2103120"/>
            <a:ext cx="1859280" cy="384048"/>
          </a:xfrm>
          <a:prstGeom prst="roundRect">
            <a:avLst>
              <a:gd name="adj" fmla="val 50000"/>
            </a:avLst>
          </a:prstGeom>
          <a:solidFill>
            <a:srgbClr val="123047"/>
          </a:solidFill>
          <a:ln w="9525">
            <a:solidFill>
              <a:srgbClr val="24405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301240" y="2103120"/>
            <a:ext cx="185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&lt;h1&gt; &lt;h2&gt; &lt;h3&gt;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297680" y="2103120"/>
            <a:ext cx="899160" cy="384048"/>
          </a:xfrm>
          <a:prstGeom prst="roundRect">
            <a:avLst>
              <a:gd name="adj" fmla="val 50000"/>
            </a:avLst>
          </a:prstGeom>
          <a:solidFill>
            <a:srgbClr val="123047"/>
          </a:solidFill>
          <a:ln w="9525">
            <a:solidFill>
              <a:srgbClr val="24405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297680" y="2103120"/>
            <a:ext cx="89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&lt;img&gt;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334000" y="2103120"/>
            <a:ext cx="1219200" cy="384048"/>
          </a:xfrm>
          <a:prstGeom prst="roundRect">
            <a:avLst>
              <a:gd name="adj" fmla="val 50000"/>
            </a:avLst>
          </a:prstGeom>
          <a:solidFill>
            <a:srgbClr val="123047"/>
          </a:solidFill>
          <a:ln w="9525">
            <a:solidFill>
              <a:srgbClr val="24405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334000" y="2103120"/>
            <a:ext cx="121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 href&gt;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690360" y="2103120"/>
            <a:ext cx="1859280" cy="384048"/>
          </a:xfrm>
          <a:prstGeom prst="roundRect">
            <a:avLst>
              <a:gd name="adj" fmla="val 50000"/>
            </a:avLst>
          </a:prstGeom>
          <a:solidFill>
            <a:srgbClr val="123047"/>
          </a:solidFill>
          <a:ln w="9525">
            <a:solidFill>
              <a:srgbClr val="24405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690360" y="2103120"/>
            <a:ext cx="185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&lt;ul&gt; &lt;ol&gt; &lt;li&gt;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30632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Texto, títulos, imagens, links e listas. Mas até agora a sua página só </a:t>
            </a:r>
            <a:pPr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fala</a:t>
            </a:r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384048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93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 ela aprende a organizar dados em grade, a </a:t>
            </a:r>
            <a:pPr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2EC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ouvir</a:t>
            </a:r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93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quem está do outro lado e a dizer o que cada pedaço dela é.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28232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3A6B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365760" cy="0"/>
          </a:xfrm>
          <a:prstGeom prst="line">
            <a:avLst/>
          </a:prstGeom>
          <a:noFill/>
          <a:ln w="19050">
            <a:solidFill>
              <a:srgbClr val="2EC9B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05840" y="42976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 PLANO DE HOJE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315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blocos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3484778" cy="3108960"/>
          </a:xfrm>
          <a:prstGeom prst="roundRect">
            <a:avLst>
              <a:gd name="adj" fmla="val 4412"/>
            </a:avLst>
          </a:prstGeom>
          <a:solidFill>
            <a:srgbClr val="123047"/>
          </a:solidFill>
          <a:ln w="9525">
            <a:solidFill>
              <a:srgbClr val="24405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331720"/>
            <a:ext cx="640080" cy="640080"/>
          </a:xfrm>
          <a:prstGeom prst="ellipse">
            <a:avLst/>
          </a:prstGeom>
          <a:solidFill>
            <a:srgbClr val="2EC9BD"/>
          </a:solidFill>
          <a:ln w="12700">
            <a:solidFill>
              <a:srgbClr val="2EC9B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2331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154680"/>
            <a:ext cx="28446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C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TABELAS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703320"/>
            <a:ext cx="28446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em linhas e colunas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4206240"/>
            <a:ext cx="28446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3A6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&lt;table&gt; &lt;tr&gt; &lt;th&gt; &lt;td&gt;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53458" y="2011680"/>
            <a:ext cx="3484778" cy="3108960"/>
          </a:xfrm>
          <a:prstGeom prst="roundRect">
            <a:avLst>
              <a:gd name="adj" fmla="val 4412"/>
            </a:avLst>
          </a:prstGeom>
          <a:solidFill>
            <a:srgbClr val="123047"/>
          </a:solidFill>
          <a:ln w="9525">
            <a:solidFill>
              <a:srgbClr val="24405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73498" y="2331720"/>
            <a:ext cx="640080" cy="640080"/>
          </a:xfrm>
          <a:prstGeom prst="ellipse">
            <a:avLst/>
          </a:prstGeom>
          <a:solidFill>
            <a:srgbClr val="F4AC4A"/>
          </a:solidFill>
          <a:ln w="12700">
            <a:solidFill>
              <a:srgbClr val="F4AC4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73498" y="2331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4673498" y="3154680"/>
            <a:ext cx="28446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A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FORMULÁRIOS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4673498" y="3703320"/>
            <a:ext cx="28446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página que pergunta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4673498" y="4206240"/>
            <a:ext cx="28446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3A6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&lt;form&gt; &lt;label&gt;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3A6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&lt;input&gt; &lt;button&gt;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158277" y="2011680"/>
            <a:ext cx="3484778" cy="3108960"/>
          </a:xfrm>
          <a:prstGeom prst="roundRect">
            <a:avLst>
              <a:gd name="adj" fmla="val 4412"/>
            </a:avLst>
          </a:prstGeom>
          <a:solidFill>
            <a:srgbClr val="123047"/>
          </a:solidFill>
          <a:ln w="9525">
            <a:solidFill>
              <a:srgbClr val="24405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478317" y="2331720"/>
            <a:ext cx="640080" cy="640080"/>
          </a:xfrm>
          <a:prstGeom prst="ellipse">
            <a:avLst/>
          </a:prstGeom>
          <a:solidFill>
            <a:srgbClr val="C4DA3C"/>
          </a:solidFill>
          <a:ln w="12700">
            <a:solidFill>
              <a:srgbClr val="C4DA3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478317" y="2331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8478317" y="3154680"/>
            <a:ext cx="28446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4D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SEMÂNTICAS</a:t>
            </a:r>
            <a:endParaRPr lang="en-US" sz="2800" dirty="0"/>
          </a:p>
        </p:txBody>
      </p:sp>
      <p:sp>
        <p:nvSpPr>
          <p:cNvPr id="21" name="Text 19"/>
          <p:cNvSpPr txBox="1"/>
          <p:nvPr/>
        </p:nvSpPr>
        <p:spPr>
          <a:xfrm>
            <a:off x="8478317" y="3703320"/>
            <a:ext cx="28446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 nome às partes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8478317" y="4206240"/>
            <a:ext cx="28446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3A6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&lt;header&gt; &lt;footer&gt;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28232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3A6B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365760" cy="0"/>
          </a:xfrm>
          <a:prstGeom prst="line">
            <a:avLst/>
          </a:prstGeom>
          <a:noFill/>
          <a:ln w="19050">
            <a:solidFill>
              <a:srgbClr val="2EC9B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05840" y="42976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PARTE 1 · TABELAS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315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usar uma </a:t>
            </a:r>
            <a:pPr indent="0" marL="0">
              <a:buNone/>
            </a:pPr>
            <a:r>
              <a:rPr lang="en-US" sz="3600" b="1" dirty="0">
                <a:solidFill>
                  <a:srgbClr val="2EC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</a:t>
            </a:r>
            <a:pPr indent="0" marL="0">
              <a:buNone/>
            </a:pPr>
            <a:r>
              <a:rPr lang="en-US" sz="3600" b="1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8308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1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a informação tem </a:t>
            </a:r>
            <a:pPr indent="0" marL="0">
              <a:spcAft>
                <a:spcPts val="400"/>
              </a:spcAft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linhas e colunas</a:t>
            </a:r>
            <a:pPr indent="0" marL="0">
              <a:spcAft>
                <a:spcPts val="400"/>
              </a:spcAft>
              <a:buNone/>
            </a:pPr>
            <a:r>
              <a:rPr lang="en-US" sz="21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verdade — aquilo que você faria numa planilha.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80360"/>
            <a:ext cx="5852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000"/>
              </a:spcAft>
              <a:buSzPct val="100000"/>
              <a:buChar char="▸"/>
            </a:pPr>
            <a:r>
              <a:rPr lang="en-US" sz="18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de um campeonato</a:t>
            </a:r>
            <a:endParaRPr lang="en-US" sz="1800" dirty="0"/>
          </a:p>
          <a:p>
            <a:pPr marL="279400" indent="-279400">
              <a:spcAft>
                <a:spcPts val="1000"/>
              </a:spcAft>
              <a:buSzPct val="100000"/>
              <a:buChar char="▸"/>
            </a:pPr>
            <a:r>
              <a:rPr lang="en-US" sz="18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Horário das aulas da semana</a:t>
            </a:r>
            <a:endParaRPr lang="en-US" sz="1800" dirty="0"/>
          </a:p>
          <a:p>
            <a:pPr marL="279400" indent="-279400">
              <a:spcAft>
                <a:spcPts val="1000"/>
              </a:spcAft>
              <a:buSzPct val="100000"/>
              <a:buChar char="▸"/>
            </a:pPr>
            <a:r>
              <a:rPr lang="en-US" sz="18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dos personagens de um jogo: vida, ataque, defesa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84632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93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dá pra ler “na linha do fulano, na coluna tal, o valor é...”, é tabela.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086600" y="1874520"/>
            <a:ext cx="1463040" cy="502920"/>
          </a:xfrm>
          <a:prstGeom prst="rect">
            <a:avLst/>
          </a:prstGeom>
          <a:solidFill>
            <a:srgbClr val="2EC9BD"/>
          </a:solidFill>
          <a:ln w="9525">
            <a:solidFill>
              <a:srgbClr val="24405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78040" y="187452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C1F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Personagem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549640" y="1874520"/>
            <a:ext cx="1005840" cy="502920"/>
          </a:xfrm>
          <a:prstGeom prst="rect">
            <a:avLst/>
          </a:prstGeom>
          <a:solidFill>
            <a:srgbClr val="2EC9BD"/>
          </a:solidFill>
          <a:ln w="9525">
            <a:solidFill>
              <a:srgbClr val="24405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41080" y="187452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C1F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Vida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555480" y="1874520"/>
            <a:ext cx="1005840" cy="502920"/>
          </a:xfrm>
          <a:prstGeom prst="rect">
            <a:avLst/>
          </a:prstGeom>
          <a:solidFill>
            <a:srgbClr val="2EC9BD"/>
          </a:solidFill>
          <a:ln w="9525">
            <a:solidFill>
              <a:srgbClr val="24405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646920" y="187452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C1F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Ataque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561320" y="1874520"/>
            <a:ext cx="1005840" cy="502920"/>
          </a:xfrm>
          <a:prstGeom prst="rect">
            <a:avLst/>
          </a:prstGeom>
          <a:solidFill>
            <a:srgbClr val="2EC9BD"/>
          </a:solidFill>
          <a:ln w="9525">
            <a:solidFill>
              <a:srgbClr val="24405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652760" y="187452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C1F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Defesa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086600" y="2377440"/>
            <a:ext cx="1463040" cy="502920"/>
          </a:xfrm>
          <a:prstGeom prst="rect">
            <a:avLst/>
          </a:prstGeom>
          <a:solidFill>
            <a:srgbClr val="123047"/>
          </a:solidFill>
          <a:ln w="9525">
            <a:solidFill>
              <a:srgbClr val="24405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178040" y="23774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Cavaleiro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549640" y="2377440"/>
            <a:ext cx="1005840" cy="502920"/>
          </a:xfrm>
          <a:prstGeom prst="rect">
            <a:avLst/>
          </a:prstGeom>
          <a:solidFill>
            <a:srgbClr val="123047"/>
          </a:solidFill>
          <a:ln w="9525">
            <a:solidFill>
              <a:srgbClr val="24405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641080" y="237744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9555480" y="2377440"/>
            <a:ext cx="1005840" cy="502920"/>
          </a:xfrm>
          <a:prstGeom prst="rect">
            <a:avLst/>
          </a:prstGeom>
          <a:solidFill>
            <a:srgbClr val="123047"/>
          </a:solidFill>
          <a:ln w="9525">
            <a:solidFill>
              <a:srgbClr val="24405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646920" y="237744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10561320" y="2377440"/>
            <a:ext cx="1005840" cy="502920"/>
          </a:xfrm>
          <a:prstGeom prst="rect">
            <a:avLst/>
          </a:prstGeom>
          <a:solidFill>
            <a:srgbClr val="123047"/>
          </a:solidFill>
          <a:ln w="9525">
            <a:solidFill>
              <a:srgbClr val="24405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652760" y="237744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7086600" y="2880360"/>
            <a:ext cx="1463040" cy="502920"/>
          </a:xfrm>
          <a:prstGeom prst="rect">
            <a:avLst/>
          </a:prstGeom>
          <a:solidFill>
            <a:srgbClr val="0C1F2E"/>
          </a:solidFill>
          <a:ln w="9525">
            <a:solidFill>
              <a:srgbClr val="24405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178040" y="288036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Arqueira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8549640" y="2880360"/>
            <a:ext cx="1005840" cy="502920"/>
          </a:xfrm>
          <a:prstGeom prst="rect">
            <a:avLst/>
          </a:prstGeom>
          <a:solidFill>
            <a:srgbClr val="0C1F2E"/>
          </a:solidFill>
          <a:ln w="9525">
            <a:solidFill>
              <a:srgbClr val="24405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641080" y="288036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9555480" y="2880360"/>
            <a:ext cx="1005840" cy="502920"/>
          </a:xfrm>
          <a:prstGeom prst="rect">
            <a:avLst/>
          </a:prstGeom>
          <a:solidFill>
            <a:srgbClr val="0C1F2E"/>
          </a:solidFill>
          <a:ln w="9525">
            <a:solidFill>
              <a:srgbClr val="24405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646920" y="288036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10561320" y="2880360"/>
            <a:ext cx="1005840" cy="502920"/>
          </a:xfrm>
          <a:prstGeom prst="rect">
            <a:avLst/>
          </a:prstGeom>
          <a:solidFill>
            <a:srgbClr val="0C1F2E"/>
          </a:solidFill>
          <a:ln w="9525">
            <a:solidFill>
              <a:srgbClr val="24405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652760" y="288036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7086600" y="3383280"/>
            <a:ext cx="1463040" cy="502920"/>
          </a:xfrm>
          <a:prstGeom prst="rect">
            <a:avLst/>
          </a:prstGeom>
          <a:solidFill>
            <a:srgbClr val="123047"/>
          </a:solidFill>
          <a:ln w="9525">
            <a:solidFill>
              <a:srgbClr val="24405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178040" y="33832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Mago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8549640" y="3383280"/>
            <a:ext cx="1005840" cy="502920"/>
          </a:xfrm>
          <a:prstGeom prst="rect">
            <a:avLst/>
          </a:prstGeom>
          <a:solidFill>
            <a:srgbClr val="123047"/>
          </a:solidFill>
          <a:ln w="9525">
            <a:solidFill>
              <a:srgbClr val="244056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641080" y="338328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9555480" y="3383280"/>
            <a:ext cx="1005840" cy="502920"/>
          </a:xfrm>
          <a:prstGeom prst="rect">
            <a:avLst/>
          </a:prstGeom>
          <a:solidFill>
            <a:srgbClr val="123047"/>
          </a:solidFill>
          <a:ln w="9525">
            <a:solidFill>
              <a:srgbClr val="244056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9646920" y="338328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10561320" y="3383280"/>
            <a:ext cx="1005840" cy="502920"/>
          </a:xfrm>
          <a:prstGeom prst="rect">
            <a:avLst/>
          </a:prstGeom>
          <a:solidFill>
            <a:srgbClr val="123047"/>
          </a:solidFill>
          <a:ln w="9525">
            <a:solidFill>
              <a:srgbClr val="244056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10652760" y="338328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7040880" y="2843784"/>
            <a:ext cx="4572000" cy="576072"/>
          </a:xfrm>
          <a:prstGeom prst="roundRect">
            <a:avLst>
              <a:gd name="adj" fmla="val 9524"/>
            </a:avLst>
          </a:prstGeom>
          <a:ln w="25400">
            <a:solidFill>
              <a:srgbClr val="F4AC4A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086600" y="406908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AC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uma LINHA = um personagem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9518904" y="1828800"/>
            <a:ext cx="1078992" cy="2103120"/>
          </a:xfrm>
          <a:prstGeom prst="roundRect">
            <a:avLst>
              <a:gd name="adj" fmla="val 5085"/>
            </a:avLst>
          </a:prstGeom>
          <a:ln w="25400">
            <a:solidFill>
              <a:srgbClr val="C4DA3C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7086600" y="43434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D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uma COLUNA = um atributo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28232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3A6B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365760" cy="0"/>
          </a:xfrm>
          <a:prstGeom prst="line">
            <a:avLst/>
          </a:prstGeom>
          <a:noFill/>
          <a:ln w="19050">
            <a:solidFill>
              <a:srgbClr val="2EC9B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05840" y="42976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PARTE 1 · TABELAS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315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Caixas dentro de caixas, de novo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6766560" cy="1920240"/>
          </a:xfrm>
          <a:prstGeom prst="roundRect">
            <a:avLst>
              <a:gd name="adj" fmla="val 5714"/>
            </a:avLst>
          </a:prstGeom>
          <a:solidFill>
            <a:srgbClr val="123047"/>
          </a:solidFill>
          <a:ln w="9525">
            <a:solidFill>
              <a:srgbClr val="24405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1965960"/>
            <a:ext cx="636422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&lt;table</a:t>
            </a:r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</a:t>
            </a:r>
            <a:pPr indent="0" marL="0">
              <a:lnSpc>
                <a:spcPct val="100000"/>
              </a:lnSpc>
              <a:buNone/>
            </a:pPr>
            <a:r>
              <a:rPr lang="en-US" sz="1700" i="1" dirty="0">
                <a:solidFill>
                  <a:srgbClr val="93A6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 a tabela inteira --&gt;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&lt;tr</a:t>
            </a:r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</a:t>
            </a:r>
            <a:pPr indent="0" marL="0">
              <a:lnSpc>
                <a:spcPct val="100000"/>
              </a:lnSpc>
              <a:buNone/>
            </a:pPr>
            <a:r>
              <a:rPr lang="en-US" sz="1700" i="1" dirty="0">
                <a:solidFill>
                  <a:srgbClr val="93A6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 table row: uma linha --&gt;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&lt;td</a:t>
            </a:r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</a:t>
            </a:r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&lt;/td</a:t>
            </a:r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indent="0" marL="0">
              <a:lnSpc>
                <a:spcPct val="100000"/>
              </a:lnSpc>
              <a:buNone/>
            </a:pPr>
            <a:r>
              <a:rPr lang="en-US" sz="1700" i="1" dirty="0">
                <a:solidFill>
                  <a:srgbClr val="93A6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 table data: uma célula --&gt;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&lt;td</a:t>
            </a:r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</a:t>
            </a:r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&lt;/td</a:t>
            </a:r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&lt;/tr</a:t>
            </a:r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&lt;/table</a:t>
            </a:r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680960" y="17830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680960" y="20574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caixa de fora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7680960" y="256032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680960" y="28346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linha, de cima pra baixo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7680960" y="333756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TD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680960" y="36118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célula, da esquerda pra direita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48640" y="4572000"/>
            <a:ext cx="11094415" cy="1005840"/>
          </a:xfrm>
          <a:prstGeom prst="roundRect">
            <a:avLst>
              <a:gd name="adj" fmla="val 10909"/>
            </a:avLst>
          </a:prstGeom>
          <a:solidFill>
            <a:srgbClr val="123047"/>
          </a:solidFill>
          <a:ln w="9525">
            <a:solidFill>
              <a:srgbClr val="24405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4892040"/>
            <a:ext cx="365760" cy="365760"/>
          </a:xfrm>
          <a:prstGeom prst="ellipse">
            <a:avLst/>
          </a:prstGeom>
          <a:solidFill>
            <a:srgbClr val="2EC9BD"/>
          </a:solidFill>
          <a:ln w="12700">
            <a:solidFill>
              <a:srgbClr val="2EC9B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4892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4663440"/>
            <a:ext cx="10134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Repare: </a:t>
            </a:r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existe tag de coluna</a:t>
            </a:r>
            <a:pPr indent="0" marL="0">
              <a:buNone/>
            </a:pPr>
            <a:r>
              <a:rPr lang="en-US" sz="17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As colunas aparecem sozinhas quando as células das linhas se alinham.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28232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3A6B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365760" cy="0"/>
          </a:xfrm>
          <a:prstGeom prst="line">
            <a:avLst/>
          </a:prstGeom>
          <a:noFill/>
          <a:ln w="19050">
            <a:solidFill>
              <a:srgbClr val="2EC9B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05840" y="42976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PARTE 1 · TABELAS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315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&lt;tr&gt;</a:t>
            </a:r>
            <a:pPr indent="0" marL="0">
              <a:buNone/>
            </a:pPr>
            <a:r>
              <a:rPr lang="en-US" sz="3600" b="1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</a:t>
            </a:r>
            <a:pPr indent="0" marL="0">
              <a:buNone/>
            </a:pPr>
            <a:r>
              <a:rPr lang="en-US" sz="3600" b="1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&lt;td&gt;</a:t>
            </a:r>
            <a:pPr indent="0" marL="0">
              <a:buNone/>
            </a:pPr>
            <a:r>
              <a:rPr lang="en-US" sz="3600" b="1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na prática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83080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93A6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VOCÊ ESCREVE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233008" y="1783080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93A6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 NAVEGADOR MOSTRA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5410048" cy="2804160"/>
          </a:xfrm>
          <a:prstGeom prst="roundRect">
            <a:avLst>
              <a:gd name="adj" fmla="val 3913"/>
            </a:avLst>
          </a:prstGeom>
          <a:solidFill>
            <a:srgbClr val="123047"/>
          </a:solidFill>
          <a:ln w="9525">
            <a:solidFill>
              <a:srgbClr val="24405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2286000"/>
            <a:ext cx="5007712" cy="2438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&lt;table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&lt;tr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&lt;td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&lt;/td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&lt;td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1200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&lt;/td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&lt;/tr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&lt;tr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&lt;td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Lucas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&lt;/td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&lt;td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950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&lt;/td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&lt;/tr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&lt;/table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33008" y="2103120"/>
            <a:ext cx="5410048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244056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61608" y="2240280"/>
          <a:ext cx="9144000" cy="914400"/>
        </p:xfrm>
        <a:graphic>
          <a:graphicData uri="http://schemas.openxmlformats.org/drawingml/2006/table">
            <a:tbl>
              <a:tblPr/>
              <a:tblGrid>
                <a:gridCol w="685800"/>
                <a:gridCol w="54864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Ana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1200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Lucas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950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1" name="Text 8"/>
          <p:cNvSpPr txBox="1"/>
          <p:nvPr/>
        </p:nvSpPr>
        <p:spPr>
          <a:xfrm>
            <a:off x="6233008" y="3474720"/>
            <a:ext cx="54100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900" dirty="0">
                <a:solidFill>
                  <a:srgbClr val="93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linhas, duas células cada → uma grade 2×2. Sem borda, sem cor: deixar bonito é trabalho do </a:t>
            </a:r>
            <a:pPr indent="0" marL="0">
              <a:spcAft>
                <a:spcPts val="4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pPr indent="0" marL="0">
              <a:spcAft>
                <a:spcPts val="400"/>
              </a:spcAft>
              <a:buNone/>
            </a:pPr>
            <a:r>
              <a:rPr lang="en-US" sz="1900" dirty="0">
                <a:solidFill>
                  <a:srgbClr val="93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28232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3A6B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365760" cy="0"/>
          </a:xfrm>
          <a:prstGeom prst="line">
            <a:avLst/>
          </a:prstGeom>
          <a:noFill/>
          <a:ln w="19050">
            <a:solidFill>
              <a:srgbClr val="2EC9B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05840" y="42976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PARTE 1 · TABELAS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315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&lt;th&gt;</a:t>
            </a:r>
            <a:pPr indent="0" marL="0">
              <a:buNone/>
            </a:pPr>
            <a:r>
              <a:rPr lang="en-US" sz="3600" b="1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 cabeçalho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83080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93A6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VOCÊ ESCREVE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233008" y="1783080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93A6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 NAVEGADOR MOSTRA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5410048" cy="3246120"/>
          </a:xfrm>
          <a:prstGeom prst="roundRect">
            <a:avLst>
              <a:gd name="adj" fmla="val 3380"/>
            </a:avLst>
          </a:prstGeom>
          <a:solidFill>
            <a:srgbClr val="123047"/>
          </a:solidFill>
          <a:ln w="9525">
            <a:solidFill>
              <a:srgbClr val="24405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2286000"/>
            <a:ext cx="5007712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&lt;table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4AC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border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A9BC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"1"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&lt;tr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&lt;th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Jogador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&lt;/th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&lt;th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Pontos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&lt;/th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&lt;/tr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&lt;tr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&lt;td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&lt;/td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&lt;td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1200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&lt;/td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&lt;/tr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&lt;tr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&lt;td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Lucas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&lt;/td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&lt;td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950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&lt;/td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&lt;/tr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&lt;/table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33008" y="2103120"/>
            <a:ext cx="5410048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9525">
            <a:solidFill>
              <a:srgbClr val="244056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61608" y="2240280"/>
          <a:ext cx="9144000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68580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Jogador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27432" marB="27432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Pontos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27432" marB="27432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Ana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27432" marB="27432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1200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27432" marB="27432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Lucas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27432" marB="27432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950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27432" marB="27432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8"/>
          <p:cNvSpPr txBox="1"/>
          <p:nvPr/>
        </p:nvSpPr>
        <p:spPr>
          <a:xfrm>
            <a:off x="6233008" y="3703320"/>
            <a:ext cx="54100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000"/>
              </a:spcAft>
              <a:buSzPct val="100000"/>
              <a:buChar char="▸"/>
            </a:pPr>
            <a:r>
              <a:rPr lang="en-US" sz="1600" dirty="0">
                <a:solidFill>
                  <a:srgbClr val="A9BC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</a:t>
            </a:r>
            <a:pPr indent="0" marL="0">
              <a:buNone/>
            </a:pPr>
            <a:r>
              <a:rPr lang="en-US" sz="16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</a:t>
            </a:r>
            <a:pPr indent="0" marL="0">
              <a:buNone/>
            </a:pPr>
            <a:r>
              <a:rPr lang="en-US" sz="1600" i="1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header</a:t>
            </a:r>
            <a:pPr indent="0" marL="0">
              <a:buNone/>
            </a:pPr>
            <a:r>
              <a:rPr lang="en-US" sz="16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 célula que dá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</a:t>
            </a:r>
            <a:pPr indent="0" marL="0">
              <a:buNone/>
            </a:pPr>
            <a:r>
              <a:rPr lang="en-US" sz="16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à coluna — sai em negrito e centralizada</a:t>
            </a:r>
            <a:endParaRPr lang="en-US" sz="1600" dirty="0"/>
          </a:p>
          <a:p>
            <a:pPr marL="279400" indent="-279400">
              <a:spcAft>
                <a:spcPts val="1000"/>
              </a:spcAft>
              <a:buSzPct val="100000"/>
              <a:buChar char="▸"/>
            </a:pPr>
            <a:r>
              <a:rPr lang="en-US" sz="1600" dirty="0">
                <a:solidFill>
                  <a:srgbClr val="A9BC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border="1"</a:t>
            </a:r>
            <a:pPr indent="0" marL="0">
              <a:buNone/>
            </a:pPr>
            <a:r>
              <a:rPr lang="en-US" sz="16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é um atalho antigo só pra enxergar a grade enquanto estuda. No projeto de verdade, borda é CSS.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28232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3A6B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365760" cy="0"/>
          </a:xfrm>
          <a:prstGeom prst="line">
            <a:avLst/>
          </a:prstGeom>
          <a:noFill/>
          <a:ln w="19050">
            <a:solidFill>
              <a:srgbClr val="2EC9B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05840" y="42976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PARTE 1 · TABELAS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315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é pra </a:t>
            </a:r>
            <a:pPr indent="0" marL="0">
              <a:buNone/>
            </a:pPr>
            <a:r>
              <a:rPr lang="en-US" sz="3600" b="1" dirty="0">
                <a:solidFill>
                  <a:srgbClr val="2EC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</a:t>
            </a:r>
            <a:pPr indent="0" marL="0">
              <a:buNone/>
            </a:pPr>
            <a:r>
              <a:rPr lang="en-US" sz="3600" b="1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não pra layout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83080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Lá pelos anos 2000, muito site usava tabela pra posicionar coisas na tela: menu numa célula, texto em outra.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2971800"/>
            <a:ext cx="6583680" cy="1417320"/>
          </a:xfrm>
          <a:prstGeom prst="roundRect">
            <a:avLst>
              <a:gd name="adj" fmla="val 7742"/>
            </a:avLst>
          </a:prstGeom>
          <a:solidFill>
            <a:srgbClr val="123047"/>
          </a:solidFill>
          <a:ln w="9525">
            <a:solidFill>
              <a:srgbClr val="24405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3497580"/>
            <a:ext cx="365760" cy="365760"/>
          </a:xfrm>
          <a:prstGeom prst="ellipse">
            <a:avLst/>
          </a:prstGeom>
          <a:solidFill>
            <a:srgbClr val="F4AC4A"/>
          </a:solidFill>
          <a:ln w="12700">
            <a:solidFill>
              <a:srgbClr val="F4AC4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34975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3063240"/>
            <a:ext cx="5623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Funciona, mas é gambiarra: um leitor de tela vai anunciar “tabela, 3 colunas” pra quem só queria ler uma notícia. Pra arrumar a tela existe o </a:t>
            </a:r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pPr indent="0" marL="0">
              <a:buNone/>
            </a:pPr>
            <a:r>
              <a:rPr lang="en-US" sz="17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66344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93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rápida: se você apagar as linhas da grade e a informação perder o sentido, era tabela mesmo.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726680" y="1783080"/>
            <a:ext cx="3886200" cy="1828800"/>
          </a:xfrm>
          <a:prstGeom prst="roundRect">
            <a:avLst>
              <a:gd name="adj" fmla="val 6000"/>
            </a:avLst>
          </a:prstGeom>
          <a:solidFill>
            <a:srgbClr val="123047"/>
          </a:solidFill>
          <a:ln w="15875">
            <a:solidFill>
              <a:srgbClr val="2EC9B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955280" y="1874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DADO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01000" y="2331720"/>
            <a:ext cx="1097280" cy="384048"/>
          </a:xfrm>
          <a:prstGeom prst="rect">
            <a:avLst/>
          </a:prstGeom>
          <a:solidFill>
            <a:srgbClr val="244056"/>
          </a:solidFill>
          <a:ln w="9525">
            <a:solidFill>
              <a:srgbClr val="93A6B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098280" y="2331720"/>
            <a:ext cx="1097280" cy="384048"/>
          </a:xfrm>
          <a:prstGeom prst="rect">
            <a:avLst/>
          </a:prstGeom>
          <a:solidFill>
            <a:srgbClr val="244056"/>
          </a:solidFill>
          <a:ln w="9525">
            <a:solidFill>
              <a:srgbClr val="93A6B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195560" y="2331720"/>
            <a:ext cx="1097280" cy="384048"/>
          </a:xfrm>
          <a:prstGeom prst="rect">
            <a:avLst/>
          </a:prstGeom>
          <a:solidFill>
            <a:srgbClr val="244056"/>
          </a:solidFill>
          <a:ln w="9525">
            <a:solidFill>
              <a:srgbClr val="93A6B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01000" y="2715768"/>
            <a:ext cx="1097280" cy="384048"/>
          </a:xfrm>
          <a:prstGeom prst="rect">
            <a:avLst/>
          </a:prstGeom>
          <a:solidFill>
            <a:srgbClr val="0C1F2E"/>
          </a:solidFill>
          <a:ln w="9525">
            <a:solidFill>
              <a:srgbClr val="93A6B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98280" y="2715768"/>
            <a:ext cx="1097280" cy="384048"/>
          </a:xfrm>
          <a:prstGeom prst="rect">
            <a:avLst/>
          </a:prstGeom>
          <a:solidFill>
            <a:srgbClr val="0C1F2E"/>
          </a:solidFill>
          <a:ln w="9525">
            <a:solidFill>
              <a:srgbClr val="93A6B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195560" y="2715768"/>
            <a:ext cx="1097280" cy="384048"/>
          </a:xfrm>
          <a:prstGeom prst="rect">
            <a:avLst/>
          </a:prstGeom>
          <a:solidFill>
            <a:srgbClr val="0C1F2E"/>
          </a:solidFill>
          <a:ln w="9525">
            <a:solidFill>
              <a:srgbClr val="93A6B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01000" y="3099816"/>
            <a:ext cx="1097280" cy="384048"/>
          </a:xfrm>
          <a:prstGeom prst="rect">
            <a:avLst/>
          </a:prstGeom>
          <a:solidFill>
            <a:srgbClr val="0C1F2E"/>
          </a:solidFill>
          <a:ln w="9525">
            <a:solidFill>
              <a:srgbClr val="93A6B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98280" y="3099816"/>
            <a:ext cx="1097280" cy="384048"/>
          </a:xfrm>
          <a:prstGeom prst="rect">
            <a:avLst/>
          </a:prstGeom>
          <a:solidFill>
            <a:srgbClr val="0C1F2E"/>
          </a:solidFill>
          <a:ln w="9525">
            <a:solidFill>
              <a:srgbClr val="93A6B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195560" y="3099816"/>
            <a:ext cx="1097280" cy="384048"/>
          </a:xfrm>
          <a:prstGeom prst="rect">
            <a:avLst/>
          </a:prstGeom>
          <a:solidFill>
            <a:srgbClr val="0C1F2E"/>
          </a:solidFill>
          <a:ln w="9525">
            <a:solidFill>
              <a:srgbClr val="93A6B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26680" y="3840480"/>
            <a:ext cx="3886200" cy="2011680"/>
          </a:xfrm>
          <a:prstGeom prst="roundRect">
            <a:avLst>
              <a:gd name="adj" fmla="val 5455"/>
            </a:avLst>
          </a:prstGeom>
          <a:solidFill>
            <a:srgbClr val="123047"/>
          </a:solidFill>
          <a:ln w="15875">
            <a:solidFill>
              <a:srgbClr val="F4AC4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955280" y="3931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C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✗ LAYOUT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001000" y="4343400"/>
            <a:ext cx="3291840" cy="365760"/>
          </a:xfrm>
          <a:prstGeom prst="rect">
            <a:avLst/>
          </a:prstGeom>
          <a:solidFill>
            <a:srgbClr val="0C1F2E"/>
          </a:solidFill>
          <a:ln w="9525">
            <a:solidFill>
              <a:srgbClr val="93A6B5"/>
            </a:solidFill>
            <a:prstDash val="dash"/>
          </a:ln>
        </p:spPr>
      </p:sp>
      <p:sp>
        <p:nvSpPr>
          <p:cNvPr id="25" name="Text 23"/>
          <p:cNvSpPr txBox="1"/>
          <p:nvPr/>
        </p:nvSpPr>
        <p:spPr>
          <a:xfrm>
            <a:off x="8001000" y="43434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3A6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topo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001000" y="4754880"/>
            <a:ext cx="1005840" cy="914400"/>
          </a:xfrm>
          <a:prstGeom prst="rect">
            <a:avLst/>
          </a:prstGeom>
          <a:solidFill>
            <a:srgbClr val="0C1F2E"/>
          </a:solidFill>
          <a:ln w="9525">
            <a:solidFill>
              <a:srgbClr val="93A6B5"/>
            </a:solidFill>
            <a:prstDash val="dash"/>
          </a:ln>
        </p:spPr>
      </p:sp>
      <p:sp>
        <p:nvSpPr>
          <p:cNvPr id="27" name="Text 25"/>
          <p:cNvSpPr txBox="1"/>
          <p:nvPr/>
        </p:nvSpPr>
        <p:spPr>
          <a:xfrm>
            <a:off x="8001000" y="475488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3A6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menu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052560" y="4754880"/>
            <a:ext cx="2240280" cy="914400"/>
          </a:xfrm>
          <a:prstGeom prst="rect">
            <a:avLst/>
          </a:prstGeom>
          <a:solidFill>
            <a:srgbClr val="0C1F2E"/>
          </a:solidFill>
          <a:ln w="9525">
            <a:solidFill>
              <a:srgbClr val="93A6B5"/>
            </a:solidFill>
            <a:prstDash val="dash"/>
          </a:ln>
        </p:spPr>
      </p:sp>
      <p:sp>
        <p:nvSpPr>
          <p:cNvPr id="29" name="Text 27"/>
          <p:cNvSpPr txBox="1"/>
          <p:nvPr/>
        </p:nvSpPr>
        <p:spPr>
          <a:xfrm>
            <a:off x="9052560" y="475488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3A6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notícia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28232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3A6B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365760" cy="0"/>
          </a:xfrm>
          <a:prstGeom prst="line">
            <a:avLst/>
          </a:prstGeom>
          <a:noFill/>
          <a:ln w="19050">
            <a:solidFill>
              <a:srgbClr val="2EC9B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05840" y="42976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PARTE 2 · FORMULÁRIOS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315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página que </a:t>
            </a:r>
            <a:pPr indent="0" marL="0">
              <a:buNone/>
            </a:pPr>
            <a:r>
              <a:rPr lang="en-US" sz="3600" b="1" dirty="0">
                <a:solidFill>
                  <a:srgbClr val="2EC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830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1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Login, cadastro, busca, comentário, chat de jogo: tudo isso é </a:t>
            </a:r>
            <a:pPr indent="0" marL="0">
              <a:spcAft>
                <a:spcPts val="400"/>
              </a:spcAft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formulário</a:t>
            </a:r>
            <a:pPr indent="0" marL="0">
              <a:spcAft>
                <a:spcPts val="400"/>
              </a:spcAft>
              <a:buNone/>
            </a:pPr>
            <a:r>
              <a:rPr lang="en-US" sz="21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4231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1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 agora o servidor mandava e você só lia. O formulário é o caminho de volta: </a:t>
            </a:r>
            <a:pPr indent="0" marL="0">
              <a:spcAft>
                <a:spcPts val="400"/>
              </a:spcAft>
              <a:buNone/>
            </a:pPr>
            <a:r>
              <a:rPr lang="en-US" sz="2100" b="1" dirty="0">
                <a:solidFill>
                  <a:srgbClr val="2EC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</a:t>
            </a:r>
            <a:pPr indent="0" marL="0">
              <a:spcAft>
                <a:spcPts val="400"/>
              </a:spcAft>
              <a:buNone/>
            </a:pPr>
            <a:r>
              <a:rPr lang="en-US" sz="21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manda algo pro servidor.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548640" y="3749040"/>
            <a:ext cx="2926080" cy="1005840"/>
          </a:xfrm>
          <a:prstGeom prst="roundRect">
            <a:avLst>
              <a:gd name="adj" fmla="val 10909"/>
            </a:avLst>
          </a:prstGeom>
          <a:solidFill>
            <a:srgbClr val="123047"/>
          </a:solidFill>
          <a:ln w="9525">
            <a:solidFill>
              <a:srgbClr val="24405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38862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NAVEGADOR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2519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3A6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você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716975" y="3749040"/>
            <a:ext cx="2926080" cy="1005840"/>
          </a:xfrm>
          <a:prstGeom prst="roundRect">
            <a:avLst>
              <a:gd name="adj" fmla="val 10909"/>
            </a:avLst>
          </a:prstGeom>
          <a:solidFill>
            <a:srgbClr val="123047"/>
          </a:solidFill>
          <a:ln w="9525">
            <a:solidFill>
              <a:srgbClr val="24405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716975" y="38862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8716975" y="42519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3A6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 site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703320" y="4023360"/>
            <a:ext cx="4785055" cy="0"/>
          </a:xfrm>
          <a:prstGeom prst="line">
            <a:avLst/>
          </a:prstGeom>
          <a:noFill/>
          <a:ln w="19050">
            <a:solidFill>
              <a:srgbClr val="93A6B5"/>
            </a:solidFill>
            <a:prstDash val="solid"/>
            <a:headEnd type="triangle"/>
          </a:ln>
        </p:spPr>
      </p:sp>
      <p:sp>
        <p:nvSpPr>
          <p:cNvPr id="14" name="Text 12"/>
          <p:cNvSpPr txBox="1"/>
          <p:nvPr/>
        </p:nvSpPr>
        <p:spPr>
          <a:xfrm>
            <a:off x="3703320" y="3703320"/>
            <a:ext cx="4785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3A6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HTML (até agora)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703320" y="4407408"/>
            <a:ext cx="4785055" cy="0"/>
          </a:xfrm>
          <a:prstGeom prst="line">
            <a:avLst/>
          </a:prstGeom>
          <a:noFill/>
          <a:ln w="25400">
            <a:solidFill>
              <a:srgbClr val="F4AC4A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3703320" y="4443984"/>
            <a:ext cx="4785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4AC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dados do formulário (hoje!)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5349240"/>
            <a:ext cx="2072640" cy="384048"/>
          </a:xfrm>
          <a:prstGeom prst="roundRect">
            <a:avLst>
              <a:gd name="adj" fmla="val 50000"/>
            </a:avLst>
          </a:prstGeom>
          <a:solidFill>
            <a:srgbClr val="123047"/>
          </a:solidFill>
          <a:ln w="9525">
            <a:solidFill>
              <a:srgbClr val="24405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5349240"/>
            <a:ext cx="207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&lt;form&gt; → a caixa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758440" y="5349240"/>
            <a:ext cx="2179320" cy="384048"/>
          </a:xfrm>
          <a:prstGeom prst="roundRect">
            <a:avLst>
              <a:gd name="adj" fmla="val 50000"/>
            </a:avLst>
          </a:prstGeom>
          <a:solidFill>
            <a:srgbClr val="123047"/>
          </a:solidFill>
          <a:ln w="9525">
            <a:solidFill>
              <a:srgbClr val="24405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758440" y="5349240"/>
            <a:ext cx="2179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&lt;input&gt; → o campo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074920" y="5349240"/>
            <a:ext cx="3032760" cy="384048"/>
          </a:xfrm>
          <a:prstGeom prst="roundRect">
            <a:avLst>
              <a:gd name="adj" fmla="val 50000"/>
            </a:avLst>
          </a:prstGeom>
          <a:solidFill>
            <a:srgbClr val="123047"/>
          </a:solidFill>
          <a:ln w="9525">
            <a:solidFill>
              <a:srgbClr val="24405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074920" y="5349240"/>
            <a:ext cx="3032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&lt;label&gt; → o nome do campo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244840" y="5349240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123047"/>
          </a:solidFill>
          <a:ln w="9525">
            <a:solidFill>
              <a:srgbClr val="24405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44840" y="534924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&lt;button&gt; → o envio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28232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3A6B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365760" cy="0"/>
          </a:xfrm>
          <a:prstGeom prst="line">
            <a:avLst/>
          </a:prstGeom>
          <a:noFill/>
          <a:ln w="19050">
            <a:solidFill>
              <a:srgbClr val="2EC9B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05840" y="42976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PARTE 2 · FORMULÁRIOS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315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&lt;input&gt;</a:t>
            </a:r>
            <a:pPr indent="0" marL="0">
              <a:buNone/>
            </a:pPr>
            <a:r>
              <a:rPr lang="en-US" sz="3600" b="1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 campo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83080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93A6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VOCÊ ESCREVE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233008" y="1783080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93A6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 NAVEGADOR MOSTRA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5410048" cy="1341120"/>
          </a:xfrm>
          <a:prstGeom prst="roundRect">
            <a:avLst>
              <a:gd name="adj" fmla="val 8182"/>
            </a:avLst>
          </a:prstGeom>
          <a:solidFill>
            <a:srgbClr val="123047"/>
          </a:solidFill>
          <a:ln w="9525">
            <a:solidFill>
              <a:srgbClr val="24405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2286000"/>
            <a:ext cx="5007712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&lt;form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4AC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A9BC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"text"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placeholder="Seu nick"&gt;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&lt;/form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33008" y="2103120"/>
            <a:ext cx="5410048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9525">
            <a:solidFill>
              <a:srgbClr val="244056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61608" y="2354580"/>
            <a:ext cx="19202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76767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16472" y="2354580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Seu nick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749040"/>
            <a:ext cx="1109441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000"/>
              </a:spcAft>
              <a:buSzPct val="100000"/>
              <a:buChar char="▸"/>
            </a:pPr>
            <a:r>
              <a:rPr lang="en-US" sz="18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Igual </a:t>
            </a:r>
            <a:pPr indent="0" marL="0">
              <a:buNone/>
            </a:pPr>
            <a:r>
              <a:rPr lang="en-US" sz="1800" dirty="0">
                <a:solidFill>
                  <a:srgbClr val="A9BC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&lt;img&gt;</a:t>
            </a:r>
            <a:pPr indent="0" marL="0">
              <a:buNone/>
            </a:pPr>
            <a:r>
              <a:rPr lang="en-US" sz="18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pPr indent="0" marL="0">
              <a:buNone/>
            </a:pPr>
            <a:r>
              <a:rPr lang="en-US" sz="1800" dirty="0">
                <a:solidFill>
                  <a:srgbClr val="A9BC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&lt;br&gt;</a:t>
            </a:r>
            <a:pPr indent="0" marL="0">
              <a:buNone/>
            </a:pPr>
            <a:r>
              <a:rPr lang="en-US" sz="18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o </a:t>
            </a:r>
            <a:pPr indent="0" marL="0">
              <a:buNone/>
            </a:pPr>
            <a:r>
              <a:rPr lang="en-US" sz="1800" dirty="0">
                <a:solidFill>
                  <a:srgbClr val="A9BC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&lt;input&gt;</a:t>
            </a:r>
            <a:pPr indent="0" marL="0">
              <a:buNone/>
            </a:pPr>
            <a:r>
              <a:rPr lang="en-US" sz="18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fecha</a:t>
            </a:r>
            <a:endParaRPr lang="en-US" sz="1800" dirty="0"/>
          </a:p>
          <a:p>
            <a:pPr marL="279400" indent="-279400">
              <a:spcAft>
                <a:spcPts val="1000"/>
              </a:spcAft>
              <a:buSzPct val="100000"/>
              <a:buChar char="▸"/>
            </a:pPr>
            <a:r>
              <a:rPr lang="en-US" sz="1800" b="1" dirty="0">
                <a:solidFill>
                  <a:srgbClr val="F4A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placeholder</a:t>
            </a:r>
            <a:pPr indent="0" marL="0">
              <a:buNone/>
            </a:pPr>
            <a:r>
              <a:rPr lang="en-US" sz="18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a dica cinza que some quando você começa a digitar</a:t>
            </a:r>
            <a:endParaRPr lang="en-US" sz="1800" dirty="0"/>
          </a:p>
          <a:p>
            <a:pPr marL="279400" indent="-279400">
              <a:spcAft>
                <a:spcPts val="1000"/>
              </a:spcAft>
              <a:buSzPct val="100000"/>
              <a:buChar char="▸"/>
            </a:pPr>
            <a:r>
              <a:rPr lang="en-US" sz="18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campo mora </a:t>
            </a:r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</a:t>
            </a:r>
            <a:pPr indent="0" marL="0">
              <a:buNone/>
            </a:pPr>
            <a:r>
              <a:rPr lang="en-US" sz="18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um </a:t>
            </a:r>
            <a:pPr indent="0" marL="0">
              <a:buNone/>
            </a:pPr>
            <a:r>
              <a:rPr lang="en-US" sz="1800" dirty="0">
                <a:solidFill>
                  <a:srgbClr val="A9BC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&lt;form&gt;</a:t>
            </a:r>
            <a:pPr indent="0" marL="0">
              <a:buNone/>
            </a:pPr>
            <a:r>
              <a:rPr lang="en-US" sz="18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é ele que junta tudo pra enviar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28232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3A6B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365760" cy="0"/>
          </a:xfrm>
          <a:prstGeom prst="line">
            <a:avLst/>
          </a:prstGeom>
          <a:noFill/>
          <a:ln w="19050">
            <a:solidFill>
              <a:srgbClr val="2EC9B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05840" y="42976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PARTE 2 · FORMULÁRIOS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315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tag, vários </a:t>
            </a:r>
            <a:pPr indent="0" marL="0">
              <a:buNone/>
            </a:pPr>
            <a:r>
              <a:rPr lang="en-US" sz="3600" b="1" dirty="0">
                <a:solidFill>
                  <a:srgbClr val="2EC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83080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93A6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VOCÊ ESCREVE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233008" y="1783080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93A6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 NAVEGADOR MOSTRA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5410048" cy="3017520"/>
          </a:xfrm>
          <a:prstGeom prst="roundRect">
            <a:avLst>
              <a:gd name="adj" fmla="val 3636"/>
            </a:avLst>
          </a:prstGeom>
          <a:solidFill>
            <a:srgbClr val="123047"/>
          </a:solidFill>
          <a:ln w="9525">
            <a:solidFill>
              <a:srgbClr val="24405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2194560"/>
            <a:ext cx="500771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150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</a:t>
            </a:r>
            <a:pPr indent="0" marL="0">
              <a:lnSpc>
                <a:spcPts val="3600"/>
              </a:lnSpc>
              <a:buNone/>
            </a:pPr>
            <a:r>
              <a:rPr lang="en-US" sz="150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lnSpc>
                <a:spcPts val="3600"/>
              </a:lnSpc>
              <a:buNone/>
            </a:pPr>
            <a:r>
              <a:rPr lang="en-US" sz="1500" dirty="0">
                <a:solidFill>
                  <a:srgbClr val="F4AC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pPr indent="0" marL="0">
              <a:lnSpc>
                <a:spcPts val="3600"/>
              </a:lnSpc>
              <a:buNone/>
            </a:pPr>
            <a:r>
              <a:rPr lang="en-US" sz="150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ts val="3600"/>
              </a:lnSpc>
              <a:buNone/>
            </a:pPr>
            <a:r>
              <a:rPr lang="en-US" sz="1500" dirty="0">
                <a:solidFill>
                  <a:srgbClr val="A9BC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"text"</a:t>
            </a:r>
            <a:pPr indent="0" marL="0">
              <a:lnSpc>
                <a:spcPts val="3600"/>
              </a:lnSpc>
              <a:buNone/>
            </a:pPr>
            <a:r>
              <a:rPr lang="en-US" sz="150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5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150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</a:t>
            </a:r>
            <a:pPr indent="0" marL="0">
              <a:lnSpc>
                <a:spcPts val="3600"/>
              </a:lnSpc>
              <a:buNone/>
            </a:pPr>
            <a:r>
              <a:rPr lang="en-US" sz="150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lnSpc>
                <a:spcPts val="3600"/>
              </a:lnSpc>
              <a:buNone/>
            </a:pPr>
            <a:r>
              <a:rPr lang="en-US" sz="1500" dirty="0">
                <a:solidFill>
                  <a:srgbClr val="F4AC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pPr indent="0" marL="0">
              <a:lnSpc>
                <a:spcPts val="3600"/>
              </a:lnSpc>
              <a:buNone/>
            </a:pPr>
            <a:r>
              <a:rPr lang="en-US" sz="150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ts val="3600"/>
              </a:lnSpc>
              <a:buNone/>
            </a:pPr>
            <a:r>
              <a:rPr lang="en-US" sz="1500" dirty="0">
                <a:solidFill>
                  <a:srgbClr val="A9BC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"email"</a:t>
            </a:r>
            <a:pPr indent="0" marL="0">
              <a:lnSpc>
                <a:spcPts val="3600"/>
              </a:lnSpc>
              <a:buNone/>
            </a:pPr>
            <a:r>
              <a:rPr lang="en-US" sz="150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5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150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</a:t>
            </a:r>
            <a:pPr indent="0" marL="0">
              <a:lnSpc>
                <a:spcPts val="3600"/>
              </a:lnSpc>
              <a:buNone/>
            </a:pPr>
            <a:r>
              <a:rPr lang="en-US" sz="150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lnSpc>
                <a:spcPts val="3600"/>
              </a:lnSpc>
              <a:buNone/>
            </a:pPr>
            <a:r>
              <a:rPr lang="en-US" sz="1500" dirty="0">
                <a:solidFill>
                  <a:srgbClr val="F4AC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pPr indent="0" marL="0">
              <a:lnSpc>
                <a:spcPts val="3600"/>
              </a:lnSpc>
              <a:buNone/>
            </a:pPr>
            <a:r>
              <a:rPr lang="en-US" sz="150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ts val="3600"/>
              </a:lnSpc>
              <a:buNone/>
            </a:pPr>
            <a:r>
              <a:rPr lang="en-US" sz="1500" dirty="0">
                <a:solidFill>
                  <a:srgbClr val="A9BC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"password"</a:t>
            </a:r>
            <a:pPr indent="0" marL="0">
              <a:lnSpc>
                <a:spcPts val="3600"/>
              </a:lnSpc>
              <a:buNone/>
            </a:pPr>
            <a:r>
              <a:rPr lang="en-US" sz="150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5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150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</a:t>
            </a:r>
            <a:pPr indent="0" marL="0">
              <a:lnSpc>
                <a:spcPts val="3600"/>
              </a:lnSpc>
              <a:buNone/>
            </a:pPr>
            <a:r>
              <a:rPr lang="en-US" sz="150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lnSpc>
                <a:spcPts val="3600"/>
              </a:lnSpc>
              <a:buNone/>
            </a:pPr>
            <a:r>
              <a:rPr lang="en-US" sz="1500" dirty="0">
                <a:solidFill>
                  <a:srgbClr val="F4AC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pPr indent="0" marL="0">
              <a:lnSpc>
                <a:spcPts val="3600"/>
              </a:lnSpc>
              <a:buNone/>
            </a:pPr>
            <a:r>
              <a:rPr lang="en-US" sz="150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ts val="3600"/>
              </a:lnSpc>
              <a:buNone/>
            </a:pPr>
            <a:r>
              <a:rPr lang="en-US" sz="1500" dirty="0">
                <a:solidFill>
                  <a:srgbClr val="A9BC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"number"</a:t>
            </a:r>
            <a:pPr indent="0" marL="0">
              <a:lnSpc>
                <a:spcPts val="3600"/>
              </a:lnSpc>
              <a:buNone/>
            </a:pPr>
            <a:r>
              <a:rPr lang="en-US" sz="150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5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150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</a:t>
            </a:r>
            <a:pPr indent="0" marL="0">
              <a:lnSpc>
                <a:spcPts val="3600"/>
              </a:lnSpc>
              <a:buNone/>
            </a:pPr>
            <a:r>
              <a:rPr lang="en-US" sz="150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lnSpc>
                <a:spcPts val="3600"/>
              </a:lnSpc>
              <a:buNone/>
            </a:pPr>
            <a:r>
              <a:rPr lang="en-US" sz="1500" dirty="0">
                <a:solidFill>
                  <a:srgbClr val="F4AC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pPr indent="0" marL="0">
              <a:lnSpc>
                <a:spcPts val="3600"/>
              </a:lnSpc>
              <a:buNone/>
            </a:pPr>
            <a:r>
              <a:rPr lang="en-US" sz="150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ts val="3600"/>
              </a:lnSpc>
              <a:buNone/>
            </a:pPr>
            <a:r>
              <a:rPr lang="en-US" sz="1500" dirty="0">
                <a:solidFill>
                  <a:srgbClr val="A9BC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"checkbox"</a:t>
            </a:r>
            <a:pPr indent="0" marL="0">
              <a:lnSpc>
                <a:spcPts val="3600"/>
              </a:lnSpc>
              <a:buNone/>
            </a:pPr>
            <a:r>
              <a:rPr lang="en-US" sz="150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5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150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</a:t>
            </a:r>
            <a:pPr indent="0" marL="0">
              <a:lnSpc>
                <a:spcPts val="3600"/>
              </a:lnSpc>
              <a:buNone/>
            </a:pPr>
            <a:r>
              <a:rPr lang="en-US" sz="150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lnSpc>
                <a:spcPts val="3600"/>
              </a:lnSpc>
              <a:buNone/>
            </a:pPr>
            <a:r>
              <a:rPr lang="en-US" sz="1500" dirty="0">
                <a:solidFill>
                  <a:srgbClr val="F4AC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pPr indent="0" marL="0">
              <a:lnSpc>
                <a:spcPts val="3600"/>
              </a:lnSpc>
              <a:buNone/>
            </a:pPr>
            <a:r>
              <a:rPr lang="en-US" sz="150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ts val="3600"/>
              </a:lnSpc>
              <a:buNone/>
            </a:pPr>
            <a:r>
              <a:rPr lang="en-US" sz="1500" dirty="0">
                <a:solidFill>
                  <a:srgbClr val="A9BC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"color"</a:t>
            </a:r>
            <a:pPr indent="0" marL="0">
              <a:lnSpc>
                <a:spcPts val="3600"/>
              </a:lnSpc>
              <a:buNone/>
            </a:pPr>
            <a:r>
              <a:rPr lang="en-US" sz="150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33008" y="2103120"/>
            <a:ext cx="5410048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244056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61608" y="2194560"/>
            <a:ext cx="19202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76767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16472" y="2194560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texto livre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8610448" y="2194560"/>
            <a:ext cx="2849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texto livre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61608" y="2651760"/>
            <a:ext cx="19202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76767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16472" y="2651760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voce@email.com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8610448" y="2651760"/>
            <a:ext cx="2849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confere se tem @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61608" y="3108960"/>
            <a:ext cx="19202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76767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16472" y="3108960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••••••••••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8610448" y="3108960"/>
            <a:ext cx="2849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esconde o que digita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61608" y="3566160"/>
            <a:ext cx="19202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76767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516472" y="3566160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8198968" y="3566160"/>
            <a:ext cx="146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▴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▾</a:t>
            </a:r>
            <a:endParaRPr lang="en-US" sz="600" dirty="0"/>
          </a:p>
        </p:txBody>
      </p:sp>
      <p:sp>
        <p:nvSpPr>
          <p:cNvPr id="22" name="Text 20"/>
          <p:cNvSpPr txBox="1"/>
          <p:nvPr/>
        </p:nvSpPr>
        <p:spPr>
          <a:xfrm>
            <a:off x="8610448" y="3566160"/>
            <a:ext cx="2849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só números, com setinhas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61608" y="4082796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0075FF"/>
          </a:solidFill>
          <a:ln w="9525">
            <a:solidFill>
              <a:srgbClr val="0075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61608" y="4073652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8610448" y="4023360"/>
            <a:ext cx="2849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marcar / desmarcar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61608" y="4480560"/>
            <a:ext cx="50292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76767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516472" y="4535424"/>
            <a:ext cx="393192" cy="164592"/>
          </a:xfrm>
          <a:prstGeom prst="rect">
            <a:avLst/>
          </a:prstGeom>
          <a:solidFill>
            <a:srgbClr val="16A89C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610448" y="4480560"/>
            <a:ext cx="2849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abre uma paleta de cor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53492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rgbClr val="93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trocando o </a:t>
            </a:r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rgbClr val="A9BC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rgbClr val="93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 navegador muda o campo inteiro. No celular, </a:t>
            </a:r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rgbClr val="A9BC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</a:t>
            </a:r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rgbClr val="93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até troca o teclado.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28232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3A6B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365760" cy="0"/>
          </a:xfrm>
          <a:prstGeom prst="line">
            <a:avLst/>
          </a:prstGeom>
          <a:noFill/>
          <a:ln w="19050">
            <a:solidFill>
              <a:srgbClr val="2EC9B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05840" y="42976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PARTE 2 · FORMULÁRIOS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315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&lt;label&gt;</a:t>
            </a:r>
            <a:pPr indent="0" marL="0">
              <a:buNone/>
            </a:pPr>
            <a:r>
              <a:rPr lang="en-US" sz="3600" b="1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 nome do campo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83080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93A6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VOCÊ ESCREVE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233008" y="1783080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93A6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 NAVEGADOR MOSTRA (CLIQUE NO TEXTO!)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5410048" cy="1394460"/>
          </a:xfrm>
          <a:prstGeom prst="roundRect">
            <a:avLst>
              <a:gd name="adj" fmla="val 7869"/>
            </a:avLst>
          </a:prstGeom>
          <a:solidFill>
            <a:srgbClr val="123047"/>
          </a:solidFill>
          <a:ln w="9525">
            <a:solidFill>
              <a:srgbClr val="24405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2286000"/>
            <a:ext cx="5007712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&lt;label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4AC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A9BC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"nick"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Nick: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&lt;/label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4AC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A9BC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"text"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4AC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A9BC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"nick"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4AC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A9BC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"checkbox"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4AC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A9BC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"som"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&lt;label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4AC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A9BC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"som"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Ativar som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&lt;/label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33008" y="2103120"/>
            <a:ext cx="5410048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9525">
            <a:solidFill>
              <a:srgbClr val="244056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461608" y="22860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Nick: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010248" y="2286000"/>
            <a:ext cx="182880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76767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65112" y="2286000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61608" y="2926080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0075FF"/>
          </a:solidFill>
          <a:ln w="9525">
            <a:solidFill>
              <a:srgbClr val="0075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61608" y="2916936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6690208" y="286664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Ativar som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886200"/>
            <a:ext cx="1109441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000"/>
              </a:spcAft>
              <a:buSzPct val="100000"/>
              <a:buChar char="▸"/>
            </a:pPr>
            <a:r>
              <a:rPr lang="en-US" sz="18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</a:t>
            </a:r>
            <a:pPr indent="0" marL="0">
              <a:buNone/>
            </a:pPr>
            <a:r>
              <a:rPr lang="en-US" sz="1800" b="1" dirty="0">
                <a:solidFill>
                  <a:srgbClr val="F4A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</a:t>
            </a:r>
            <a:pPr indent="0" marL="0">
              <a:buNone/>
            </a:pPr>
            <a:r>
              <a:rPr lang="en-US" sz="18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label aponta pro </a:t>
            </a:r>
            <a:pPr indent="0" marL="0">
              <a:buNone/>
            </a:pPr>
            <a:r>
              <a:rPr lang="en-US" sz="1800" b="1" dirty="0">
                <a:solidFill>
                  <a:srgbClr val="F4A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pPr indent="0" marL="0">
              <a:buNone/>
            </a:pPr>
            <a:r>
              <a:rPr lang="en-US" sz="18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campo: os dois ficam </a:t>
            </a:r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ligados</a:t>
            </a:r>
            <a:endParaRPr lang="en-US" sz="1800" dirty="0"/>
          </a:p>
          <a:p>
            <a:pPr marL="279400" indent="-279400">
              <a:spcAft>
                <a:spcPts val="1000"/>
              </a:spcAft>
              <a:buSzPct val="100000"/>
              <a:buChar char="▸"/>
            </a:pPr>
            <a:r>
              <a:rPr lang="en-US" sz="18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Clicar no texto ativa o campo — checkbox fica muito mais fácil de acertar</a:t>
            </a:r>
            <a:endParaRPr lang="en-US" sz="1800" dirty="0"/>
          </a:p>
          <a:p>
            <a:pPr marL="279400" indent="-279400">
              <a:spcAft>
                <a:spcPts val="1000"/>
              </a:spcAft>
              <a:buSzPct val="100000"/>
              <a:buChar char="▸"/>
            </a:pPr>
            <a:r>
              <a:rPr lang="en-US" sz="18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o leitor de tela sabe ler “Nick” quando chega no campo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28232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3A6B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365760" cy="0"/>
          </a:xfrm>
          <a:prstGeom prst="line">
            <a:avLst/>
          </a:prstGeom>
          <a:noFill/>
          <a:ln w="19050">
            <a:solidFill>
              <a:srgbClr val="2EC9B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05840" y="42976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PARTE 2 · FORMULÁRIOS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315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&lt;button&gt;</a:t>
            </a:r>
            <a:pPr indent="0" marL="0">
              <a:buNone/>
            </a:pPr>
            <a:r>
              <a:rPr lang="en-US" sz="3600" b="1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 pra onde vai?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669280" cy="1402080"/>
          </a:xfrm>
          <a:prstGeom prst="roundRect">
            <a:avLst>
              <a:gd name="adj" fmla="val 7826"/>
            </a:avLst>
          </a:prstGeom>
          <a:solidFill>
            <a:srgbClr val="123047"/>
          </a:solidFill>
          <a:ln w="9525">
            <a:solidFill>
              <a:srgbClr val="24405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1965960"/>
            <a:ext cx="5266944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&lt;form</a:t>
            </a:r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F4AC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</a:t>
            </a:r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A9BC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"/inscricao"</a:t>
            </a:r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</a:t>
            </a:r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F4AC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A9BC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"text"</a:t>
            </a:r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F4AC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A9BC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"nick"</a:t>
            </a:r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&lt;button</a:t>
            </a:r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Enviar</a:t>
            </a:r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&lt;/button</a:t>
            </a:r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&lt;/form</a:t>
            </a:r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583680" y="1783080"/>
            <a:ext cx="505937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000"/>
              </a:spcAft>
              <a:buSzPct val="100000"/>
              <a:buChar char="▸"/>
            </a:pPr>
            <a:r>
              <a:rPr lang="en-US" sz="1800" dirty="0">
                <a:solidFill>
                  <a:srgbClr val="A9BC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&lt;button&gt;</a:t>
            </a:r>
            <a:pPr indent="0" marL="0">
              <a:buNone/>
            </a:pPr>
            <a:r>
              <a:rPr lang="en-US" sz="18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dentro do form = botão de </a:t>
            </a:r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enviar</a:t>
            </a:r>
            <a:pPr indent="0" marL="0">
              <a:buNone/>
            </a:pPr>
            <a:r>
              <a:rPr lang="en-US" sz="18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Apertar </a:t>
            </a:r>
            <a:pPr indent="0" marL="0">
              <a:buNone/>
            </a:pPr>
            <a:r>
              <a:rPr lang="en-US" sz="1800" dirty="0">
                <a:solidFill>
                  <a:srgbClr val="A9BC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</a:t>
            </a:r>
            <a:pPr indent="0" marL="0">
              <a:buNone/>
            </a:pPr>
            <a:r>
              <a:rPr lang="en-US" sz="18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num campo faz o mesmo.</a:t>
            </a:r>
            <a:endParaRPr lang="en-US" sz="1800" dirty="0"/>
          </a:p>
          <a:p>
            <a:pPr marL="279400" indent="-279400">
              <a:spcAft>
                <a:spcPts val="1000"/>
              </a:spcAft>
              <a:buSzPct val="100000"/>
              <a:buChar char="▸"/>
            </a:pPr>
            <a:r>
              <a:rPr lang="en-US" sz="1800" b="1" dirty="0">
                <a:solidFill>
                  <a:srgbClr val="F4A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pPr indent="0" marL="0">
              <a:buNone/>
            </a:pPr>
            <a:r>
              <a:rPr lang="en-US" sz="18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o endereço que recebe os dados</a:t>
            </a:r>
            <a:endParaRPr lang="en-US" sz="1800" dirty="0"/>
          </a:p>
          <a:p>
            <a:pPr marL="279400" indent="-279400">
              <a:spcAft>
                <a:spcPts val="1000"/>
              </a:spcAft>
              <a:buSzPct val="100000"/>
              <a:buChar char="▸"/>
            </a:pPr>
            <a:r>
              <a:rPr lang="en-US" sz="1800" b="1" dirty="0">
                <a:solidFill>
                  <a:srgbClr val="F4A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pPr indent="0" marL="0">
              <a:buNone/>
            </a:pPr>
            <a:r>
              <a:rPr lang="en-US" sz="18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o nome do dado lá no servidor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4343400"/>
            <a:ext cx="11094415" cy="1371600"/>
          </a:xfrm>
          <a:prstGeom prst="roundRect">
            <a:avLst>
              <a:gd name="adj" fmla="val 8000"/>
            </a:avLst>
          </a:prstGeom>
          <a:solidFill>
            <a:srgbClr val="123047"/>
          </a:solidFill>
          <a:ln w="9525">
            <a:solidFill>
              <a:srgbClr val="24405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846320"/>
            <a:ext cx="365760" cy="365760"/>
          </a:xfrm>
          <a:prstGeom prst="ellipse">
            <a:avLst/>
          </a:prstGeom>
          <a:solidFill>
            <a:srgbClr val="F4AC4A"/>
          </a:solidFill>
          <a:ln w="12700">
            <a:solidFill>
              <a:srgbClr val="F4AC4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4846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4434840"/>
            <a:ext cx="101342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Lembra da aula de como a web funciona? Alguém precisa </a:t>
            </a:r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receber</a:t>
            </a:r>
            <a:pPr indent="0" marL="0">
              <a:buNone/>
            </a:pPr>
            <a:r>
              <a:rPr lang="en-US" sz="17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esse pedido. Sem um servidor programado pra isso, o botão envia… pro nada. Por enquanto a gente monta a parte da frente.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28232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3A6B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365760" cy="0"/>
          </a:xfrm>
          <a:prstGeom prst="line">
            <a:avLst/>
          </a:prstGeom>
          <a:noFill/>
          <a:ln w="19050">
            <a:solidFill>
              <a:srgbClr val="2EC9B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05840" y="42976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PARTE 2 · FORMULÁRIOS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315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Inscrição no campeonato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83080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93A6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VOCÊ ESCREVE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233008" y="1783080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93A6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 NAVEGADOR MOSTRA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5410048" cy="3451860"/>
          </a:xfrm>
          <a:prstGeom prst="roundRect">
            <a:avLst>
              <a:gd name="adj" fmla="val 3179"/>
            </a:avLst>
          </a:prstGeom>
          <a:solidFill>
            <a:srgbClr val="123047"/>
          </a:solidFill>
          <a:ln w="9525">
            <a:solidFill>
              <a:srgbClr val="24405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2286000"/>
            <a:ext cx="5007712" cy="3086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&lt;form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&lt;label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4AC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A9BC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"nick"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Nick: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&lt;/label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4AC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A9BC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"text"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4AC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A9BC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"nick"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&lt;/p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&lt;label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4AC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A9BC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"email"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E-mail: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&lt;/label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4AC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A9BC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"email"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4AC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A9BC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"email"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&lt;/p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4AC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A9BC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"checkbox"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4AC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A9BC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"regras"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&lt;label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4AC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A9BC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"regras"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 as regras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&lt;/label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&lt;/p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&lt;button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Inscrever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&lt;/button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&lt;/form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33008" y="2103120"/>
            <a:ext cx="5410048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9525">
            <a:solidFill>
              <a:srgbClr val="244056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461608" y="22860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Nick: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147408" y="2286000"/>
            <a:ext cx="182880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76767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202272" y="2286000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6461608" y="26974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E-mail: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147408" y="2697480"/>
            <a:ext cx="182880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76767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202272" y="2697480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61608" y="3168396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76767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690208" y="3108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 as regras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61608" y="3520440"/>
            <a:ext cx="973836" cy="274320"/>
          </a:xfrm>
          <a:prstGeom prst="roundRect">
            <a:avLst>
              <a:gd name="adj" fmla="val 13333"/>
            </a:avLst>
          </a:prstGeom>
          <a:solidFill>
            <a:srgbClr val="EFEFEF"/>
          </a:solidFill>
          <a:ln w="9525">
            <a:solidFill>
              <a:srgbClr val="76767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61608" y="3520440"/>
            <a:ext cx="9738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Inscrever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6233008" y="4251960"/>
            <a:ext cx="54100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900" dirty="0">
                <a:solidFill>
                  <a:srgbClr val="93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par label + campo vai num </a:t>
            </a:r>
            <a:pPr indent="0" marL="0">
              <a:spcAft>
                <a:spcPts val="400"/>
              </a:spcAft>
              <a:buNone/>
            </a:pPr>
            <a:r>
              <a:rPr lang="en-US" sz="1900" dirty="0">
                <a:solidFill>
                  <a:srgbClr val="A9BC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</a:t>
            </a:r>
            <a:pPr indent="0" marL="0">
              <a:spcAft>
                <a:spcPts val="400"/>
              </a:spcAft>
              <a:buNone/>
            </a:pPr>
            <a:r>
              <a:rPr lang="en-US" sz="1900" dirty="0">
                <a:solidFill>
                  <a:srgbClr val="93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só pra ficar um embaixo do outro. Tag dentro de tag, como sempre.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28232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3A6B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365760" cy="0"/>
          </a:xfrm>
          <a:prstGeom prst="line">
            <a:avLst/>
          </a:prstGeom>
          <a:noFill/>
          <a:ln w="19050">
            <a:solidFill>
              <a:srgbClr val="2EC9B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05840" y="42976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PARTE 3 · SEMÂNTICAS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315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 que dizem o que a parte </a:t>
            </a:r>
            <a:pPr indent="0" marL="0">
              <a:buNone/>
            </a:pPr>
            <a:r>
              <a:rPr lang="en-US" sz="3600" b="1" dirty="0">
                <a:solidFill>
                  <a:srgbClr val="2EC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83080"/>
            <a:ext cx="6766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Olhe qualquer site: tem um </a:t>
            </a:r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</a:t>
            </a:r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(logo, menu), o </a:t>
            </a:r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meio</a:t>
            </a:r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(o conteúdo) e um </a:t>
            </a:r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rodapé</a:t>
            </a:r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(contato, direitos autorais).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34640"/>
            <a:ext cx="6766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entende isso olhando. O navegador, o Google e um leitor de tela </a:t>
            </a:r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2EC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olham</a:t>
            </a:r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eles leem as tags.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4069080"/>
            <a:ext cx="6766560" cy="1371600"/>
          </a:xfrm>
          <a:prstGeom prst="roundRect">
            <a:avLst>
              <a:gd name="adj" fmla="val 8000"/>
            </a:avLst>
          </a:prstGeom>
          <a:solidFill>
            <a:srgbClr val="123047"/>
          </a:solidFill>
          <a:ln w="9525">
            <a:solidFill>
              <a:srgbClr val="24405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4572000"/>
            <a:ext cx="365760" cy="365760"/>
          </a:xfrm>
          <a:prstGeom prst="ellipse">
            <a:avLst/>
          </a:prstGeom>
          <a:solidFill>
            <a:srgbClr val="2EC9BD"/>
          </a:solidFill>
          <a:ln w="12700">
            <a:solidFill>
              <a:srgbClr val="2EC9B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4572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4160520"/>
            <a:ext cx="5806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como etiquetar as caixas de uma mudança: “cozinha”, “quarto”. O que está dentro é o mesmo, mas agora todo mundo sabe onde fica cada coisa.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955280" y="2103120"/>
            <a:ext cx="1645920" cy="1371600"/>
          </a:xfrm>
          <a:prstGeom prst="rect">
            <a:avLst/>
          </a:prstGeom>
          <a:solidFill>
            <a:srgbClr val="8A6A45"/>
          </a:solidFill>
          <a:ln w="12700">
            <a:solidFill>
              <a:srgbClr val="5E463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778240" y="2103120"/>
            <a:ext cx="0" cy="457200"/>
          </a:xfrm>
          <a:prstGeom prst="line">
            <a:avLst/>
          </a:prstGeom>
          <a:noFill/>
          <a:ln w="76200">
            <a:solidFill>
              <a:srgbClr val="C9A97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38160" y="2788920"/>
            <a:ext cx="12801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138160" y="27889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COZINHA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784080" y="2103120"/>
            <a:ext cx="1645920" cy="1371600"/>
          </a:xfrm>
          <a:prstGeom prst="rect">
            <a:avLst/>
          </a:prstGeom>
          <a:solidFill>
            <a:srgbClr val="8A6A45"/>
          </a:solidFill>
          <a:ln w="12700">
            <a:solidFill>
              <a:srgbClr val="5E463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607040" y="2103120"/>
            <a:ext cx="0" cy="457200"/>
          </a:xfrm>
          <a:prstGeom prst="line">
            <a:avLst/>
          </a:prstGeom>
          <a:noFill/>
          <a:ln w="76200">
            <a:solidFill>
              <a:srgbClr val="C9A97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966960" y="2788920"/>
            <a:ext cx="12801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966960" y="27889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QUARTO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869680" y="3657600"/>
            <a:ext cx="1645920" cy="1371600"/>
          </a:xfrm>
          <a:prstGeom prst="rect">
            <a:avLst/>
          </a:prstGeom>
          <a:solidFill>
            <a:srgbClr val="8A6A45"/>
          </a:solidFill>
          <a:ln w="12700">
            <a:solidFill>
              <a:srgbClr val="5E463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92640" y="3657600"/>
            <a:ext cx="0" cy="457200"/>
          </a:xfrm>
          <a:prstGeom prst="line">
            <a:avLst/>
          </a:prstGeom>
          <a:noFill/>
          <a:ln w="76200">
            <a:solidFill>
              <a:srgbClr val="C9A97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52560" y="4343400"/>
            <a:ext cx="12801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052560" y="43434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SALA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28232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3A6B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365760" cy="0"/>
          </a:xfrm>
          <a:prstGeom prst="line">
            <a:avLst/>
          </a:prstGeom>
          <a:noFill/>
          <a:ln w="19050">
            <a:solidFill>
              <a:srgbClr val="2EC9B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05840" y="42976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PARTE 3 · SEMÂNTICAS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315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&lt;header&gt;</a:t>
            </a:r>
            <a:pPr indent="0" marL="0">
              <a:buNone/>
            </a:pPr>
            <a:r>
              <a:rPr lang="en-US" sz="3600" b="1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pPr indent="0" marL="0">
              <a:buNone/>
            </a:pPr>
            <a:r>
              <a:rPr lang="en-US" sz="3600" b="1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&lt;footer&gt;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83080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93A6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VOCÊ ESCREVE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233008" y="1783080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93A6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ESTRUTURA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5410048" cy="2651760"/>
          </a:xfrm>
          <a:prstGeom prst="roundRect">
            <a:avLst>
              <a:gd name="adj" fmla="val 4138"/>
            </a:avLst>
          </a:prstGeom>
          <a:solidFill>
            <a:srgbClr val="123047"/>
          </a:solidFill>
          <a:ln w="9525">
            <a:solidFill>
              <a:srgbClr val="24405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2286000"/>
            <a:ext cx="500771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&lt;body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&lt;header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&lt;h1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Arena Pixel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&lt;/h1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F4AC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href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A9BC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"ranking.html"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Ranking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&lt;/a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&lt;/header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Bem-vindo ao torneio!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&lt;/p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&lt;footer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Feito pela turma de 2026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&lt;/p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&lt;/footer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&lt;/body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33008" y="2103120"/>
            <a:ext cx="5410048" cy="548640"/>
          </a:xfrm>
          <a:prstGeom prst="roundRect">
            <a:avLst>
              <a:gd name="adj" fmla="val 16667"/>
            </a:avLst>
          </a:prstGeom>
          <a:solidFill>
            <a:srgbClr val="0C1F2E"/>
          </a:solidFill>
          <a:ln w="22225">
            <a:solidFill>
              <a:srgbClr val="F4AC4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15888" y="2194560"/>
            <a:ext cx="3764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6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Arena Pixel · Ranking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180015" y="21945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4AC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&lt;header&gt;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33008" y="2743200"/>
            <a:ext cx="5410048" cy="1097280"/>
          </a:xfrm>
          <a:prstGeom prst="roundRect">
            <a:avLst>
              <a:gd name="adj" fmla="val 8333"/>
            </a:avLst>
          </a:prstGeom>
          <a:solidFill>
            <a:srgbClr val="0C1F2E"/>
          </a:solidFill>
          <a:ln w="19050">
            <a:solidFill>
              <a:srgbClr val="244056"/>
            </a:solidFill>
            <a:prstDash val="dash"/>
          </a:ln>
        </p:spPr>
      </p:sp>
      <p:sp>
        <p:nvSpPr>
          <p:cNvPr id="13" name="Text 11"/>
          <p:cNvSpPr txBox="1"/>
          <p:nvPr/>
        </p:nvSpPr>
        <p:spPr>
          <a:xfrm>
            <a:off x="6415888" y="2834640"/>
            <a:ext cx="3764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6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Bem-vindo ao torneio!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33008" y="3931920"/>
            <a:ext cx="5410048" cy="548640"/>
          </a:xfrm>
          <a:prstGeom prst="roundRect">
            <a:avLst>
              <a:gd name="adj" fmla="val 16667"/>
            </a:avLst>
          </a:prstGeom>
          <a:solidFill>
            <a:srgbClr val="0C1F2E"/>
          </a:solidFill>
          <a:ln w="22225">
            <a:solidFill>
              <a:srgbClr val="F4AC4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15888" y="4023360"/>
            <a:ext cx="3764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6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Feito pela turma de 2026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0180015" y="40233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4AC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&lt;footer&gt;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233008" y="4709160"/>
            <a:ext cx="54100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000"/>
              </a:spcAft>
              <a:buSzPct val="100000"/>
              <a:buChar char="▸"/>
            </a:pPr>
            <a:r>
              <a:rPr lang="en-US" sz="1600" dirty="0">
                <a:solidFill>
                  <a:srgbClr val="A9BC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&lt;header&gt;</a:t>
            </a:r>
            <a:pPr indent="0" marL="0">
              <a:buNone/>
            </a:pPr>
            <a:r>
              <a:rPr lang="en-US" sz="16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o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cabeçalho</a:t>
            </a:r>
            <a:pPr indent="0" marL="0">
              <a:buNone/>
            </a:pPr>
            <a:r>
              <a:rPr lang="en-US" sz="16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nome, logo, menu</a:t>
            </a:r>
            <a:endParaRPr lang="en-US" sz="1600" dirty="0"/>
          </a:p>
          <a:p>
            <a:pPr marL="279400" indent="-279400">
              <a:spcAft>
                <a:spcPts val="1000"/>
              </a:spcAft>
              <a:buSzPct val="100000"/>
              <a:buChar char="▸"/>
            </a:pPr>
            <a:r>
              <a:rPr lang="en-US" sz="1600" dirty="0">
                <a:solidFill>
                  <a:srgbClr val="A9BC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&lt;footer&gt;</a:t>
            </a:r>
            <a:pPr indent="0" marL="0">
              <a:buNone/>
            </a:pPr>
            <a:r>
              <a:rPr lang="en-US" sz="16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o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rodapé</a:t>
            </a:r>
            <a:pPr indent="0" marL="0">
              <a:buNone/>
            </a:pPr>
            <a:r>
              <a:rPr lang="en-US" sz="16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autor, contato, links finais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28232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3A6B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365760" cy="0"/>
          </a:xfrm>
          <a:prstGeom prst="line">
            <a:avLst/>
          </a:prstGeom>
          <a:noFill/>
          <a:ln w="19050">
            <a:solidFill>
              <a:srgbClr val="2EC9B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05840" y="42976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PARTE 3 · SEMÂNTICAS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315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 na tela não muda </a:t>
            </a:r>
            <a:pPr indent="0" marL="0">
              <a:buNone/>
            </a:pPr>
            <a:r>
              <a:rPr lang="en-US" sz="3600" b="1" dirty="0">
                <a:solidFill>
                  <a:srgbClr val="2EC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</a:t>
            </a:r>
            <a:pPr indent="0" marL="0">
              <a:buNone/>
            </a:pPr>
            <a:r>
              <a:rPr lang="en-US" sz="3600" b="1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830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Não. Abra a página: com ou sem </a:t>
            </a:r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A9BC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&lt;header&gt;</a:t>
            </a:r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ela aparece igualzinha. E é isso mesmo. Quem ganha é: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2697480"/>
            <a:ext cx="3484778" cy="2011680"/>
          </a:xfrm>
          <a:prstGeom prst="roundRect">
            <a:avLst>
              <a:gd name="adj" fmla="val 5455"/>
            </a:avLst>
          </a:prstGeom>
          <a:solidFill>
            <a:srgbClr val="123047"/>
          </a:solidFill>
          <a:ln w="9525">
            <a:solidFill>
              <a:srgbClr val="24405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926080"/>
            <a:ext cx="29361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LEITOR DE TELA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337560"/>
            <a:ext cx="29361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deixa a pessoa pular direto pro conteúdo, sem ouvir o menu toda vez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353458" y="2697480"/>
            <a:ext cx="3484778" cy="2011680"/>
          </a:xfrm>
          <a:prstGeom prst="roundRect">
            <a:avLst>
              <a:gd name="adj" fmla="val 5455"/>
            </a:avLst>
          </a:prstGeom>
          <a:solidFill>
            <a:srgbClr val="123047"/>
          </a:solidFill>
          <a:ln w="9525">
            <a:solidFill>
              <a:srgbClr val="24405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27778" y="2926080"/>
            <a:ext cx="29361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4AC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GOOGLE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627778" y="3337560"/>
            <a:ext cx="29361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 o que é conteúdo principal e o que é só rodapé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158277" y="2697480"/>
            <a:ext cx="3484778" cy="2011680"/>
          </a:xfrm>
          <a:prstGeom prst="roundRect">
            <a:avLst>
              <a:gd name="adj" fmla="val 5455"/>
            </a:avLst>
          </a:prstGeom>
          <a:solidFill>
            <a:srgbClr val="123047"/>
          </a:solidFill>
          <a:ln w="9525">
            <a:solidFill>
              <a:srgbClr val="24405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432597" y="2926080"/>
            <a:ext cx="29361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4D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VOCÊ DAQUI A UM MÊS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432597" y="3337560"/>
            <a:ext cx="29361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 seu colega) acha cada parte do código bem mais rápido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0749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93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 mais da mesma família: </a:t>
            </a:r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A9BC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&lt;nav&gt;</a:t>
            </a:r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93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(menu), </a:t>
            </a:r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A9BC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&lt;main&gt;</a:t>
            </a:r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93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(conteúdo principal), </a:t>
            </a:r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A9BC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&lt;section&gt;</a:t>
            </a:r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93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(uma seção). Mesma ideia: nome certo pra cada parte.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28232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3A6B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365760" cy="0"/>
          </a:xfrm>
          <a:prstGeom prst="line">
            <a:avLst/>
          </a:prstGeom>
          <a:noFill/>
          <a:ln w="19050">
            <a:solidFill>
              <a:srgbClr val="2EC9B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05840" y="42976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JUNTANDO TUDO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315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página de torneio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91640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93A6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TORNEIO.HTML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233008" y="1691640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93A6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 NAVEGADOR MOSTRA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5410048" cy="3413760"/>
          </a:xfrm>
          <a:prstGeom prst="roundRect">
            <a:avLst>
              <a:gd name="adj" fmla="val 3214"/>
            </a:avLst>
          </a:prstGeom>
          <a:solidFill>
            <a:srgbClr val="123047"/>
          </a:solidFill>
          <a:ln w="9525">
            <a:solidFill>
              <a:srgbClr val="24405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2148840"/>
            <a:ext cx="5007712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&lt;header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&lt;h1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Arena Pixel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&lt;/h1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&lt;/header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&lt;h2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Ranking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&lt;/h2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&lt;table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F4AC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border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A9BC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"1"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&lt;tr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&lt;th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Jogador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&lt;/th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&lt;th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Pontos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&lt;/th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&lt;/tr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&lt;tr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&lt;td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&lt;/td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&lt;td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1200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&lt;/td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&lt;/tr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&lt;tr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&lt;td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Lucas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&lt;/td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&lt;td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950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&lt;/td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&lt;/tr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&lt;/table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&lt;h2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Inscreva-se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&lt;/h2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&lt;form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&lt;label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F4AC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A9BC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"nick"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Nick: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&lt;/label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F4AC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A9BC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"text"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F4AC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A9BC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"nick"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&lt;button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Entrar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&lt;/button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&lt;/form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&lt;footer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Turma de 2026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&lt;/footer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33008" y="1965960"/>
            <a:ext cx="5410048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244056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461608" y="2103120"/>
            <a:ext cx="4952848" cy="4823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Arena Pixel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6461608" y="2676906"/>
            <a:ext cx="4952848" cy="362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Ranking</a:t>
            </a:r>
            <a:endParaRPr lang="en-US" sz="19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61608" y="3084957"/>
          <a:ext cx="9144000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68580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Jogador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27432" marB="27432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Pontos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27432" marB="27432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Ana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27432" marB="27432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1200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27432" marB="27432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Lucas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27432" marB="27432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950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4864" marR="54864" marT="27432" marB="27432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10"/>
          <p:cNvSpPr txBox="1"/>
          <p:nvPr/>
        </p:nvSpPr>
        <p:spPr>
          <a:xfrm>
            <a:off x="6461608" y="4045077"/>
            <a:ext cx="4952848" cy="362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Inscreva-se</a:t>
            </a:r>
            <a:endParaRPr lang="en-US" sz="1900" dirty="0"/>
          </a:p>
        </p:txBody>
      </p:sp>
      <p:sp>
        <p:nvSpPr>
          <p:cNvPr id="14" name="Text 11"/>
          <p:cNvSpPr txBox="1"/>
          <p:nvPr/>
        </p:nvSpPr>
        <p:spPr>
          <a:xfrm>
            <a:off x="6461608" y="44805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Nick: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7010248" y="4480560"/>
            <a:ext cx="173736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76767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065112" y="4480560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8839048" y="4480560"/>
            <a:ext cx="740664" cy="274320"/>
          </a:xfrm>
          <a:prstGeom prst="roundRect">
            <a:avLst>
              <a:gd name="adj" fmla="val 13333"/>
            </a:avLst>
          </a:prstGeom>
          <a:solidFill>
            <a:srgbClr val="EFEFEF"/>
          </a:solidFill>
          <a:ln w="9525">
            <a:solidFill>
              <a:srgbClr val="76767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839048" y="4480560"/>
            <a:ext cx="740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Entrar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6461608" y="4937760"/>
            <a:ext cx="495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Turma de 2026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28232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3A6B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365760" cy="0"/>
          </a:xfrm>
          <a:prstGeom prst="line">
            <a:avLst/>
          </a:prstGeom>
          <a:noFill/>
          <a:ln w="19050">
            <a:solidFill>
              <a:srgbClr val="2EC9B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05840" y="42976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FECHO · COLA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315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levar pra casa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830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TABELAS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914400" cy="329184"/>
          </a:xfrm>
          <a:prstGeom prst="roundRect">
            <a:avLst>
              <a:gd name="adj" fmla="val 16667"/>
            </a:avLst>
          </a:prstGeom>
          <a:solidFill>
            <a:srgbClr val="123047"/>
          </a:solidFill>
          <a:ln w="9525">
            <a:solidFill>
              <a:srgbClr val="24405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14884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&lt;table&gt;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2697480" y="214884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tabela inteira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587752"/>
            <a:ext cx="640080" cy="329184"/>
          </a:xfrm>
          <a:prstGeom prst="roundRect">
            <a:avLst>
              <a:gd name="adj" fmla="val 16667"/>
            </a:avLst>
          </a:prstGeom>
          <a:solidFill>
            <a:srgbClr val="123047"/>
          </a:solidFill>
          <a:ln w="9525">
            <a:solidFill>
              <a:srgbClr val="24405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58775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&lt;tr&gt;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697480" y="2587752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linha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026664"/>
            <a:ext cx="640080" cy="329184"/>
          </a:xfrm>
          <a:prstGeom prst="roundRect">
            <a:avLst>
              <a:gd name="adj" fmla="val 16667"/>
            </a:avLst>
          </a:prstGeom>
          <a:solidFill>
            <a:srgbClr val="123047"/>
          </a:solidFill>
          <a:ln w="9525">
            <a:solidFill>
              <a:srgbClr val="24405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026664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&lt;th&gt;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2697480" y="3026664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célula de cabeçalho (nome da coluna)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465576"/>
            <a:ext cx="640080" cy="329184"/>
          </a:xfrm>
          <a:prstGeom prst="roundRect">
            <a:avLst>
              <a:gd name="adj" fmla="val 16667"/>
            </a:avLst>
          </a:prstGeom>
          <a:solidFill>
            <a:srgbClr val="123047"/>
          </a:solidFill>
          <a:ln w="9525">
            <a:solidFill>
              <a:srgbClr val="24405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3465576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&lt;td&gt;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2697480" y="3465576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célula comum, com o dado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309360" y="17830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4AC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FORMULÁRIOS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309360" y="2148840"/>
            <a:ext cx="822960" cy="329184"/>
          </a:xfrm>
          <a:prstGeom prst="roundRect">
            <a:avLst>
              <a:gd name="adj" fmla="val 16667"/>
            </a:avLst>
          </a:prstGeom>
          <a:solidFill>
            <a:srgbClr val="123047"/>
          </a:solidFill>
          <a:ln w="9525">
            <a:solidFill>
              <a:srgbClr val="24405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309360" y="2148840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&lt;form&gt;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458200" y="214884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junta os campos pra enviar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309360" y="2587752"/>
            <a:ext cx="1920240" cy="329184"/>
          </a:xfrm>
          <a:prstGeom prst="roundRect">
            <a:avLst>
              <a:gd name="adj" fmla="val 16667"/>
            </a:avLst>
          </a:prstGeom>
          <a:solidFill>
            <a:srgbClr val="123047"/>
          </a:solidFill>
          <a:ln w="9525">
            <a:solidFill>
              <a:srgbClr val="24405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309360" y="258775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 type="..."&gt;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8458200" y="2587752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 (não fecha): text, email, password…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309360" y="3026664"/>
            <a:ext cx="1828800" cy="329184"/>
          </a:xfrm>
          <a:prstGeom prst="roundRect">
            <a:avLst>
              <a:gd name="adj" fmla="val 16667"/>
            </a:avLst>
          </a:prstGeom>
          <a:solidFill>
            <a:srgbClr val="123047"/>
          </a:solidFill>
          <a:ln w="9525">
            <a:solidFill>
              <a:srgbClr val="24405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309360" y="302666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&lt;label for="..."&gt;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8458200" y="3026664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 do campo, ligado pelo id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309360" y="3465576"/>
            <a:ext cx="1005840" cy="329184"/>
          </a:xfrm>
          <a:prstGeom prst="roundRect">
            <a:avLst>
              <a:gd name="adj" fmla="val 16667"/>
            </a:avLst>
          </a:prstGeom>
          <a:solidFill>
            <a:srgbClr val="123047"/>
          </a:solidFill>
          <a:ln w="9525">
            <a:solidFill>
              <a:srgbClr val="24405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309360" y="346557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&lt;button&gt;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8458200" y="3465576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botão de enviar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40690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4D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SEMÂNTICAS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48640" y="4434840"/>
            <a:ext cx="1005840" cy="329184"/>
          </a:xfrm>
          <a:prstGeom prst="roundRect">
            <a:avLst>
              <a:gd name="adj" fmla="val 16667"/>
            </a:avLst>
          </a:prstGeom>
          <a:solidFill>
            <a:srgbClr val="123047"/>
          </a:solidFill>
          <a:ln w="9525">
            <a:solidFill>
              <a:srgbClr val="24405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48640" y="443484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&lt;header&gt;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2697480" y="443484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 da página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548640" y="4873752"/>
            <a:ext cx="1005840" cy="329184"/>
          </a:xfrm>
          <a:prstGeom prst="roundRect">
            <a:avLst>
              <a:gd name="adj" fmla="val 16667"/>
            </a:avLst>
          </a:prstGeom>
          <a:solidFill>
            <a:srgbClr val="123047"/>
          </a:solidFill>
          <a:ln w="9525">
            <a:solidFill>
              <a:srgbClr val="244056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48640" y="487375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4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&lt;footer&gt;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2697480" y="4873752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rodapé da página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6309360" y="4069080"/>
            <a:ext cx="5577840" cy="1188720"/>
          </a:xfrm>
          <a:prstGeom prst="roundRect">
            <a:avLst>
              <a:gd name="adj" fmla="val 9231"/>
            </a:avLst>
          </a:prstGeom>
          <a:solidFill>
            <a:srgbClr val="123047"/>
          </a:solidFill>
          <a:ln w="9525">
            <a:solidFill>
              <a:srgbClr val="24405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537960" y="4480560"/>
            <a:ext cx="365760" cy="365760"/>
          </a:xfrm>
          <a:prstGeom prst="ellipse">
            <a:avLst/>
          </a:prstGeom>
          <a:solidFill>
            <a:srgbClr val="2EC9BD"/>
          </a:solidFill>
          <a:ln w="12700">
            <a:solidFill>
              <a:srgbClr val="2EC9BD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537960" y="4480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41" name="Text 39"/>
          <p:cNvSpPr txBox="1"/>
          <p:nvPr/>
        </p:nvSpPr>
        <p:spPr>
          <a:xfrm>
            <a:off x="7086600" y="4160520"/>
            <a:ext cx="4617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pra </a:t>
            </a:r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</a:t>
            </a:r>
            <a:pPr indent="0" marL="0">
              <a:buNone/>
            </a:pPr>
            <a:r>
              <a:rPr lang="en-US" sz="17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formulário pra </a:t>
            </a:r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perguntar</a:t>
            </a:r>
            <a:pPr indent="0" marL="0">
              <a:buNone/>
            </a:pPr>
            <a:r>
              <a:rPr lang="en-US" sz="17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semântica pra </a:t>
            </a:r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 nome</a:t>
            </a:r>
            <a:pPr indent="0" marL="0">
              <a:buNone/>
            </a:pPr>
            <a:r>
              <a:rPr lang="en-US" sz="17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28232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3A6B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365760" cy="0"/>
          </a:xfrm>
          <a:prstGeom prst="line">
            <a:avLst/>
          </a:prstGeom>
          <a:noFill/>
          <a:ln w="19050">
            <a:solidFill>
              <a:srgbClr val="2EC9B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05840" y="42976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2EC9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MÃO NA MASSA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315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página do seu jogo favorito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801368"/>
            <a:ext cx="384048" cy="384048"/>
          </a:xfrm>
          <a:prstGeom prst="ellipse">
            <a:avLst/>
          </a:prstGeom>
          <a:solidFill>
            <a:srgbClr val="2EC9BD"/>
          </a:solidFill>
          <a:ln w="12700">
            <a:solidFill>
              <a:srgbClr val="2EC9B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801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828800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</a:t>
            </a:r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rgbClr val="A9BC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&lt;header&gt;</a:t>
            </a:r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 o nome do jogo num </a:t>
            </a:r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rgbClr val="A9BC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&lt;h1&gt;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48640" y="2368296"/>
            <a:ext cx="384048" cy="384048"/>
          </a:xfrm>
          <a:prstGeom prst="ellipse">
            <a:avLst/>
          </a:prstGeom>
          <a:solidFill>
            <a:srgbClr val="2EC9BD"/>
          </a:solidFill>
          <a:ln w="12700">
            <a:solidFill>
              <a:srgbClr val="2EC9B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3682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2395728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</a:t>
            </a:r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rgbClr val="A9BC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&lt;table&gt;</a:t>
            </a:r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 3 personagens: nome, vida e ataque (use </a:t>
            </a:r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rgbClr val="A9BC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&lt;th&gt;</a:t>
            </a:r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 topo)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48640" y="2935224"/>
            <a:ext cx="384048" cy="384048"/>
          </a:xfrm>
          <a:prstGeom prst="ellipse">
            <a:avLst/>
          </a:prstGeom>
          <a:solidFill>
            <a:srgbClr val="2EC9BD"/>
          </a:solidFill>
          <a:ln w="12700">
            <a:solidFill>
              <a:srgbClr val="2EC9B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2935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2962656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</a:t>
            </a:r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rgbClr val="A9BC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&lt;form&gt;</a:t>
            </a:r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“Vote no melhor personagem”: texto, e-mail e checkbox — todos com </a:t>
            </a:r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rgbClr val="A9BC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&lt;label&gt;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48640" y="3502152"/>
            <a:ext cx="384048" cy="384048"/>
          </a:xfrm>
          <a:prstGeom prst="ellipse">
            <a:avLst/>
          </a:prstGeom>
          <a:solidFill>
            <a:srgbClr val="2EC9BD"/>
          </a:solidFill>
          <a:ln w="12700">
            <a:solidFill>
              <a:srgbClr val="2EC9B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3502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3529584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</a:t>
            </a:r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rgbClr val="A9BC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&lt;button&gt;</a:t>
            </a:r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pra enviar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548640" y="4069080"/>
            <a:ext cx="384048" cy="384048"/>
          </a:xfrm>
          <a:prstGeom prst="ellipse">
            <a:avLst/>
          </a:prstGeom>
          <a:solidFill>
            <a:srgbClr val="2EC9BD"/>
          </a:solidFill>
          <a:ln w="12700">
            <a:solidFill>
              <a:srgbClr val="2EC9B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4069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143000" y="4096512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</a:t>
            </a:r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rgbClr val="A9BC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&lt;footer&gt;</a:t>
            </a:r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 seu nome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8092440" y="1783080"/>
            <a:ext cx="3547872" cy="1371600"/>
          </a:xfrm>
          <a:prstGeom prst="roundRect">
            <a:avLst>
              <a:gd name="adj" fmla="val 8000"/>
            </a:avLst>
          </a:prstGeom>
          <a:solidFill>
            <a:srgbClr val="123047"/>
          </a:solidFill>
          <a:ln w="9525">
            <a:solidFill>
              <a:srgbClr val="24405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321040" y="2286000"/>
            <a:ext cx="365760" cy="365760"/>
          </a:xfrm>
          <a:prstGeom prst="ellipse">
            <a:avLst/>
          </a:prstGeom>
          <a:solidFill>
            <a:srgbClr val="2EC9BD"/>
          </a:solidFill>
          <a:ln w="12700">
            <a:solidFill>
              <a:srgbClr val="2EC9B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321040" y="2286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8869680" y="1874520"/>
            <a:ext cx="25877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Teste: clicar no texto do label marca o checkbox? Então ligou certo.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8092440" y="3383280"/>
            <a:ext cx="3547872" cy="1371600"/>
          </a:xfrm>
          <a:prstGeom prst="roundRect">
            <a:avLst>
              <a:gd name="adj" fmla="val 8000"/>
            </a:avLst>
          </a:prstGeom>
          <a:solidFill>
            <a:srgbClr val="123047"/>
          </a:solidFill>
          <a:ln w="9525">
            <a:solidFill>
              <a:srgbClr val="24405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321040" y="3886200"/>
            <a:ext cx="365760" cy="365760"/>
          </a:xfrm>
          <a:prstGeom prst="ellipse">
            <a:avLst/>
          </a:prstGeom>
          <a:solidFill>
            <a:srgbClr val="F4AC4A"/>
          </a:solidFill>
          <a:ln w="12700">
            <a:solidFill>
              <a:srgbClr val="F4AC4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321040" y="3886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8869680" y="3474720"/>
            <a:ext cx="25877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Desafio: troque o </a:t>
            </a:r>
            <a:pPr indent="0" marL="0">
              <a:buNone/>
            </a:pPr>
            <a:r>
              <a:rPr lang="en-US" sz="1700" dirty="0">
                <a:solidFill>
                  <a:srgbClr val="A9BC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pPr indent="0" marL="0">
              <a:buNone/>
            </a:pPr>
            <a:r>
              <a:rPr lang="en-US" sz="17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um campo pra </a:t>
            </a:r>
            <a:pPr indent="0" marL="0">
              <a:buNone/>
            </a:pPr>
            <a:r>
              <a:rPr lang="en-US" sz="1700" dirty="0">
                <a:solidFill>
                  <a:srgbClr val="A9BC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pPr indent="0" marL="0">
              <a:buNone/>
            </a:pPr>
            <a:r>
              <a:rPr lang="en-US" sz="17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ou </a:t>
            </a:r>
            <a:pPr indent="0" marL="0">
              <a:buNone/>
            </a:pPr>
            <a:r>
              <a:rPr lang="en-US" sz="1700" dirty="0">
                <a:solidFill>
                  <a:srgbClr val="A9BC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</a:t>
            </a:r>
            <a:pPr indent="0" marL="0">
              <a:buNone/>
            </a:pPr>
            <a:r>
              <a:rPr lang="en-US" sz="17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veja o que aparece.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28232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3A6B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Mais Tags HTML</dc:title>
  <dc:subject>PptxGenJS Presentation</dc:subject>
  <dc:creator>PptxGenJS</dc:creator>
  <cp:lastModifiedBy>PptxGenJS</cp:lastModifiedBy>
  <cp:revision>1</cp:revision>
  <dcterms:created xsi:type="dcterms:W3CDTF">2026-10-02T11:40:51Z</dcterms:created>
  <dcterms:modified xsi:type="dcterms:W3CDTF">2026-10-02T11:40:51Z</dcterms:modified>
</cp:coreProperties>
</file>