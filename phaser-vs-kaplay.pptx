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Phaser</c:v>
                </c:pt>
              </c:strCache>
            </c:strRef>
          </c:tx>
          <c:spPr>
            <a:solidFill>
              <a:srgbClr val="123F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3F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Config + carregar assets</c:v>
                  </c:pt>
                  <c:pt idx="1">
                    <c:v>Cena do jogo</c:v>
                  </c:pt>
                  <c:pt idx="2">
                    <c:v>Personagem (Sonic)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</c:v>
                </c:pt>
                <c:pt idx="1">
                  <c:v>173</c:v>
                </c:pt>
                <c:pt idx="2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Kaplay</c:v>
                </c:pt>
              </c:strCache>
            </c:strRef>
          </c:tx>
          <c:spPr>
            <a:solidFill>
              <a:srgbClr val="16A8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3F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Config + carregar assets</c:v>
                  </c:pt>
                  <c:pt idx="1">
                    <c:v>Cena do jogo</c:v>
                  </c:pt>
                  <c:pt idx="2">
                    <c:v>Personagem (Sonic)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</c:v>
                </c:pt>
                <c:pt idx="1">
                  <c:v>157</c:v>
                </c:pt>
                <c:pt idx="2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3F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F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23F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Deixar claro que o objetivo é comparar, não decidir. O exemplo é o Sonic Runner do JSLegendDev, que existe nas duas versões.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intenção, dois estilos. Phaser: estrutura de cenas e ciclo de vida. Kaplay: composição de componentes. O código de exemplo é só para sentir o estilo.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diferença prática de instalação. O ponto é: o repo do Sonic usa Vite e npm, o que não é obrigatório. Dá para rodar tudo com uma tag script e um Live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Contagem feita em src/ de cada repo. Atenção: os dois projetos não têm exatamente as mesmas telas (o Kaplay tem menu e disclaimer, o Phaser não), então o total não é uma comparação de recursos idênticos. O dado mais limpo é a barra de config +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Phaser: config grande com cena, física e escala. Kaplay: config menor, e o botão nomeado jump simplifica o input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Phaser separa carregar (preload) de criar animação (create), em chamadas diferentes. Kaplay faz tudo em uma chamada. O filtro NEAREST é específico de pixel 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aparece o custo conceitual: classe, herança, this e configuração manual de hitbox no Phaser. No Kaplay, area() calcula a hitbox e body() dá gravidade e pulo.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trechos foram simplificados a partir do jogo do Sonic. A diferença é grupo e collider contra tag e onCollide.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construída a partir do código real dos dois repositórios. Não é uma lista de defeitos: é o vocabulário que o aluno precisa para ler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 tirados dos comentários e do código dos dois repos. Não é uma avaliação geral das bibliotecas.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Avaliação qualitativa. Algumas linhas (ajuda da IA, material de apoio, projeto grande) são tendências, não medições: vale testar com o mesmo prompt nas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sem veredito. As perguntas são o critério de decisão; as respostas são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 e método de contagem.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65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+ROBOTIC  ·  PHASER VS KAPLAY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12801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12801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logo"/>
          <p:cNvSpPr/>
          <p:nvPr/>
        </p:nvSpPr>
        <p:spPr>
          <a:xfrm>
            <a:off x="457200" y="914400"/>
            <a:ext cx="3840480" cy="2212848"/>
          </a:xfrm>
          <a:prstGeom prst="roundRect">
            <a:avLst>
              <a:gd name="adj" fmla="val 61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" descr="Logo +ROBO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474720" cy="2002536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457200" y="384048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PHASER</a:t>
            </a:r>
            <a:endParaRPr lang="en-US" sz="8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vs</a:t>
            </a:r>
            <a:endParaRPr lang="en-US" sz="8400" dirty="0"/>
          </a:p>
          <a:p>
            <a:pPr indent="0" marL="0">
              <a:buNone/>
            </a:pPr>
            <a:r>
              <a:rPr lang="en-US" sz="8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KAPLAY</a:t>
            </a:r>
            <a:endParaRPr lang="en-US" sz="8400" dirty="0"/>
          </a:p>
        </p:txBody>
      </p:sp>
      <p:sp>
        <p:nvSpPr>
          <p:cNvPr id="5" name="subtitulo"/>
          <p:cNvSpPr txBox="1"/>
          <p:nvPr/>
        </p:nvSpPr>
        <p:spPr>
          <a:xfrm>
            <a:off x="457200" y="81381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 mesmo jogo, duas bibliotecas: o Sonic Runner lado a lado</a:t>
            </a:r>
            <a:endParaRPr lang="en-US" sz="2200" dirty="0"/>
          </a:p>
        </p:txBody>
      </p:sp>
      <p:sp>
        <p:nvSpPr>
          <p:cNvPr id="6" name="subtitulo 2"/>
          <p:cNvSpPr txBox="1"/>
          <p:nvPr/>
        </p:nvSpPr>
        <p:spPr>
          <a:xfrm>
            <a:off x="457200" y="90525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Sem veredito: só o que cada uma exige de você e dos alunos.</a:t>
            </a:r>
            <a:endParaRPr lang="en-US" sz="1600" dirty="0"/>
          </a:p>
        </p:txBody>
      </p:sp>
      <p:sp>
        <p:nvSpPr>
          <p:cNvPr id="7" name="chip phaser"/>
          <p:cNvSpPr/>
          <p:nvPr/>
        </p:nvSpPr>
        <p:spPr>
          <a:xfrm>
            <a:off x="457200" y="10332720"/>
            <a:ext cx="182880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chip phaser txt"/>
          <p:cNvSpPr txBox="1"/>
          <p:nvPr/>
        </p:nvSpPr>
        <p:spPr>
          <a:xfrm>
            <a:off x="457200" y="10332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PHASER</a:t>
            </a:r>
            <a:endParaRPr lang="en-US" sz="2000" dirty="0"/>
          </a:p>
        </p:txBody>
      </p:sp>
      <p:sp>
        <p:nvSpPr>
          <p:cNvPr id="9" name="chip kaplay"/>
          <p:cNvSpPr/>
          <p:nvPr/>
        </p:nvSpPr>
        <p:spPr>
          <a:xfrm>
            <a:off x="2514600" y="10332720"/>
            <a:ext cx="182880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hip kaplay txt"/>
          <p:cNvSpPr txBox="1"/>
          <p:nvPr/>
        </p:nvSpPr>
        <p:spPr>
          <a:xfrm>
            <a:off x="2514600" y="10332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KAPLAY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EM UMA FRASE CADA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Duas filosofias para chegar ao mesmo lugar: um jogo 2D no navegador.</a:t>
            </a:r>
            <a:endParaRPr lang="en-US" sz="1600" dirty="0"/>
          </a:p>
        </p:txBody>
      </p:sp>
      <p:sp>
        <p:nvSpPr>
          <p:cNvPr id="4" name="PHASER card"/>
          <p:cNvSpPr/>
          <p:nvPr/>
        </p:nvSpPr>
        <p:spPr>
          <a:xfrm>
            <a:off x="457200" y="2286000"/>
            <a:ext cx="594360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HASER chip"/>
          <p:cNvSpPr/>
          <p:nvPr/>
        </p:nvSpPr>
        <p:spPr>
          <a:xfrm>
            <a:off x="685800" y="2514600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HASER label"/>
          <p:cNvSpPr txBox="1"/>
          <p:nvPr/>
        </p:nvSpPr>
        <p:spPr>
          <a:xfrm>
            <a:off x="685800" y="2514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PHASER</a:t>
            </a:r>
            <a:endParaRPr lang="en-US" sz="1600" dirty="0"/>
          </a:p>
        </p:txBody>
      </p:sp>
      <p:sp>
        <p:nvSpPr>
          <p:cNvPr id="7" name="PHASER texto"/>
          <p:cNvSpPr txBox="1"/>
          <p:nvPr/>
        </p:nvSpPr>
        <p:spPr>
          <a:xfrm>
            <a:off x="685800" y="301752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Framework 2D maduro, organizado em cenas.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jogo vive em um ciclo preload, create e update. Física, tilemaps, partículas e controle de tela já vêm dentro.</a:t>
            </a:r>
            <a:endParaRPr lang="en-US" sz="1800" dirty="0"/>
          </a:p>
        </p:txBody>
      </p:sp>
      <p:sp>
        <p:nvSpPr>
          <p:cNvPr id="8" name="PHASER code panel"/>
          <p:cNvSpPr/>
          <p:nvPr/>
        </p:nvSpPr>
        <p:spPr>
          <a:xfrm>
            <a:off x="685800" y="484632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PHASER code"/>
          <p:cNvSpPr txBox="1"/>
          <p:nvPr/>
        </p:nvSpPr>
        <p:spPr>
          <a:xfrm>
            <a:off x="868680" y="4846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this.physics.add.sprite(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200, 750, "sonic");</a:t>
            </a:r>
            <a:endParaRPr lang="en-US" sz="1400" dirty="0"/>
          </a:p>
        </p:txBody>
      </p:sp>
      <p:sp>
        <p:nvSpPr>
          <p:cNvPr id="10" name="KAPLAY card"/>
          <p:cNvSpPr/>
          <p:nvPr/>
        </p:nvSpPr>
        <p:spPr>
          <a:xfrm>
            <a:off x="457200" y="6492240"/>
            <a:ext cx="594360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APLAY chip"/>
          <p:cNvSpPr/>
          <p:nvPr/>
        </p:nvSpPr>
        <p:spPr>
          <a:xfrm>
            <a:off x="685800" y="6720840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KAPLAY label"/>
          <p:cNvSpPr txBox="1"/>
          <p:nvPr/>
        </p:nvSpPr>
        <p:spPr>
          <a:xfrm>
            <a:off x="685800" y="6720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KAPLAY</a:t>
            </a:r>
            <a:endParaRPr lang="en-US" sz="1600" dirty="0"/>
          </a:p>
        </p:txBody>
      </p:sp>
      <p:sp>
        <p:nvSpPr>
          <p:cNvPr id="13" name="KAPLAY texto"/>
          <p:cNvSpPr txBox="1"/>
          <p:nvPr/>
        </p:nvSpPr>
        <p:spPr>
          <a:xfrm>
            <a:off x="685800" y="722376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Biblioteca enxuta, sucessora do Kaboom.js.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jogo se lê de cima para baixo. Cada objeto é uma lista de componentes que você combina.</a:t>
            </a:r>
            <a:endParaRPr lang="en-US" sz="1800" dirty="0"/>
          </a:p>
        </p:txBody>
      </p:sp>
      <p:sp>
        <p:nvSpPr>
          <p:cNvPr id="14" name="KAPLAY code panel"/>
          <p:cNvSpPr/>
          <p:nvPr/>
        </p:nvSpPr>
        <p:spPr>
          <a:xfrm>
            <a:off x="685800" y="905256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KAPLAY code"/>
          <p:cNvSpPr txBox="1"/>
          <p:nvPr/>
        </p:nvSpPr>
        <p:spPr>
          <a:xfrm>
            <a:off x="868680" y="90525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sprite("sonic"), pos(200, 750),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area(), body() ]);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QUE CADA UMA PEDE PARA RODAR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Os requisitos de instalação são quase idênticos nas duas.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5943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201168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PHASER</a:t>
                      </a:r>
                      <a:endParaRPr lang="en-US" sz="18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KAPLAY</a:t>
                      </a:r>
                      <a:endParaRPr lang="en-US" sz="18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Incluir na página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Tag &lt;script&gt; (CDN) ou npm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Tag &lt;script&gt; (CDN) ou npm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Node / npm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Opcional. Necessário se usar Vite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Opcional. Necessário se usar Vite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Servidor local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Sim, se carregar imagens ou sons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Sim, se carregar imagens ou sons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Linguagem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JavaScript ou TypeScript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JavaScript ou TypeScript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Versão no repo do Sonic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phaser 4.0.0-rc.5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kaplay 3001.0.0-alpha.21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Ferramenta de build no repo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Vite 7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Vite 5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nota"/>
          <p:cNvSpPr/>
          <p:nvPr/>
        </p:nvSpPr>
        <p:spPr>
          <a:xfrm>
            <a:off x="457200" y="8229600"/>
            <a:ext cx="59436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ota texto"/>
          <p:cNvSpPr txBox="1"/>
          <p:nvPr/>
        </p:nvSpPr>
        <p:spPr>
          <a:xfrm>
            <a:off x="685800" y="82296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ATENÇÃO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dois repositórios do Sonic usam versões de pré-lançamento (RC e alpha). Para aula, vale fixar uma versão testada.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TAMANHO DO JOGO É PARECIDO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Linhas de código na pasta src/ de cada repositório do Sonic.</a:t>
            </a:r>
            <a:endParaRPr lang="en-US" sz="1600" dirty="0"/>
          </a:p>
        </p:txBody>
      </p:sp>
      <p:sp>
        <p:nvSpPr>
          <p:cNvPr id="4" name="linhas · 9 arquivos · Phaser stat card"/>
          <p:cNvSpPr/>
          <p:nvPr/>
        </p:nvSpPr>
        <p:spPr>
          <a:xfrm>
            <a:off x="457200" y="2286000"/>
            <a:ext cx="2880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nhas · 9 arquivos · Phaser numero"/>
          <p:cNvSpPr txBox="1"/>
          <p:nvPr/>
        </p:nvSpPr>
        <p:spPr>
          <a:xfrm>
            <a:off x="457200" y="2377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459</a:t>
            </a:r>
            <a:endParaRPr lang="en-US" sz="6400" dirty="0"/>
          </a:p>
        </p:txBody>
      </p:sp>
      <p:sp>
        <p:nvSpPr>
          <p:cNvPr id="6" name="linhas · 9 arquivos · Phaser legenda"/>
          <p:cNvSpPr txBox="1"/>
          <p:nvPr/>
        </p:nvSpPr>
        <p:spPr>
          <a:xfrm>
            <a:off x="457200" y="3383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linhas · 9 arquivos · Phaser</a:t>
            </a:r>
            <a:endParaRPr lang="en-US" sz="1400" dirty="0"/>
          </a:p>
        </p:txBody>
      </p:sp>
      <p:sp>
        <p:nvSpPr>
          <p:cNvPr id="7" name="linhas · 9 arquivos · Kaplay stat card"/>
          <p:cNvSpPr/>
          <p:nvPr/>
        </p:nvSpPr>
        <p:spPr>
          <a:xfrm>
            <a:off x="3520440" y="2286000"/>
            <a:ext cx="2880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inhas · 9 arquivos · Kaplay numero"/>
          <p:cNvSpPr txBox="1"/>
          <p:nvPr/>
        </p:nvSpPr>
        <p:spPr>
          <a:xfrm>
            <a:off x="3520440" y="2377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453</a:t>
            </a:r>
            <a:endParaRPr lang="en-US" sz="6400" dirty="0"/>
          </a:p>
        </p:txBody>
      </p:sp>
      <p:sp>
        <p:nvSpPr>
          <p:cNvPr id="9" name="linhas · 9 arquivos · Kaplay legenda"/>
          <p:cNvSpPr txBox="1"/>
          <p:nvPr/>
        </p:nvSpPr>
        <p:spPr>
          <a:xfrm>
            <a:off x="3520440" y="3383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linhas · 9 arquivos · Kaplay</a:t>
            </a:r>
            <a:endParaRPr lang="en-US" sz="1400" dirty="0"/>
          </a:p>
        </p:txBody>
      </p:sp>
      <p:sp>
        <p:nvSpPr>
          <p:cNvPr id="10" name="titulo grafico"/>
          <p:cNvSpPr txBox="1"/>
          <p:nvPr/>
        </p:nvSpPr>
        <p:spPr>
          <a:xfrm>
            <a:off x="457200" y="4526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ONDE AS LINHAS SE CONCENTRAM</a:t>
            </a:r>
            <a:endParaRPr lang="en-US" sz="2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493776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nota"/>
          <p:cNvSpPr/>
          <p:nvPr/>
        </p:nvSpPr>
        <p:spPr>
          <a:xfrm>
            <a:off x="457200" y="9144000"/>
            <a:ext cx="59436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ota texto"/>
          <p:cNvSpPr txBox="1"/>
          <p:nvPr/>
        </p:nvSpPr>
        <p:spPr>
          <a:xfrm>
            <a:off x="685800" y="91440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QUE NOTAR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total empata. A diferença está em quanto código vem antes do jogo existir: 133 linhas no Phaser contra 63 no Kaplay (arquivos main e Loader / main e kaplayCtx).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PASSO 1: CONFIGURAR O JOGO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Primeiro arquivo de cada projeto, resumido.</a:t>
            </a:r>
            <a:endParaRPr lang="en-US" sz="1600" dirty="0"/>
          </a:p>
        </p:txBody>
      </p:sp>
      <p:sp>
        <p:nvSpPr>
          <p:cNvPr id="4" name="PHASER chip"/>
          <p:cNvSpPr/>
          <p:nvPr/>
        </p:nvSpPr>
        <p:spPr>
          <a:xfrm>
            <a:off x="457200" y="2286000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HASER label"/>
          <p:cNvSpPr txBox="1"/>
          <p:nvPr/>
        </p:nvSpPr>
        <p:spPr>
          <a:xfrm>
            <a:off x="45720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PHASER</a:t>
            </a:r>
            <a:endParaRPr lang="en-US" sz="1600" dirty="0"/>
          </a:p>
        </p:txBody>
      </p:sp>
      <p:sp>
        <p:nvSpPr>
          <p:cNvPr id="6" name="PHASER code panel"/>
          <p:cNvSpPr/>
          <p:nvPr/>
        </p:nvSpPr>
        <p:spPr>
          <a:xfrm>
            <a:off x="457200" y="2761488"/>
            <a:ext cx="5943600" cy="2318004"/>
          </a:xfrm>
          <a:prstGeom prst="roundRect">
            <a:avLst>
              <a:gd name="adj" fmla="val 31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PHASER code"/>
          <p:cNvSpPr txBox="1"/>
          <p:nvPr/>
        </p:nvSpPr>
        <p:spPr>
          <a:xfrm>
            <a:off x="640080" y="2761488"/>
            <a:ext cx="5577840" cy="2318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config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1920, height: 1080,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scale: { mode: Phaser.Scale.FIT,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autoCenter: Phaser.Scale.CENTER_BOTH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scene: [Loader, Game, GameOver],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physics: { default: "arcade",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arcade: { gravity: { y: 4000 } }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Phaser.Game(config);</a:t>
            </a:r>
            <a:endParaRPr lang="en-US" sz="1400" dirty="0"/>
          </a:p>
        </p:txBody>
      </p:sp>
      <p:sp>
        <p:nvSpPr>
          <p:cNvPr id="8" name="KAPLAY chip"/>
          <p:cNvSpPr/>
          <p:nvPr/>
        </p:nvSpPr>
        <p:spPr>
          <a:xfrm>
            <a:off x="457200" y="5445252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KAPLAY label"/>
          <p:cNvSpPr txBox="1"/>
          <p:nvPr/>
        </p:nvSpPr>
        <p:spPr>
          <a:xfrm>
            <a:off x="457200" y="54452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KAPLAY</a:t>
            </a:r>
            <a:endParaRPr lang="en-US" sz="1600" dirty="0"/>
          </a:p>
        </p:txBody>
      </p:sp>
      <p:sp>
        <p:nvSpPr>
          <p:cNvPr id="10" name="KAPLAY code panel"/>
          <p:cNvSpPr/>
          <p:nvPr/>
        </p:nvSpPr>
        <p:spPr>
          <a:xfrm>
            <a:off x="457200" y="5920740"/>
            <a:ext cx="5943600" cy="1884172"/>
          </a:xfrm>
          <a:prstGeom prst="roundRect">
            <a:avLst>
              <a:gd name="adj" fmla="val 3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KAPLAY code"/>
          <p:cNvSpPr txBox="1"/>
          <p:nvPr/>
        </p:nvSpPr>
        <p:spPr>
          <a:xfrm>
            <a:off x="640080" y="5920740"/>
            <a:ext cx="5577840" cy="188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 = kaplay({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1920, height: 1080,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letterbox: true,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buttons: { jump: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keyboard: ["space"], mouse: "left" }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touchToMouse: true,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12" name="nota"/>
          <p:cNvSpPr/>
          <p:nvPr/>
        </p:nvSpPr>
        <p:spPr>
          <a:xfrm>
            <a:off x="457200" y="8170672"/>
            <a:ext cx="5943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ota texto"/>
          <p:cNvSpPr txBox="1"/>
          <p:nvPr/>
        </p:nvSpPr>
        <p:spPr>
          <a:xfrm>
            <a:off x="685800" y="8170672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QUE NOTAR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Phaser, cenas e física são declaradas aqui. No Kaplay, o botão "jump" já junta teclado, mouse e toque em um nome só.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PASSO 2: CARREGAR E ANIMAR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Um sprite com 16 quadros e duas animações: correr e pular.</a:t>
            </a:r>
            <a:endParaRPr lang="en-US" sz="1600" dirty="0"/>
          </a:p>
        </p:txBody>
      </p:sp>
      <p:sp>
        <p:nvSpPr>
          <p:cNvPr id="4" name="PHASER chip"/>
          <p:cNvSpPr/>
          <p:nvPr/>
        </p:nvSpPr>
        <p:spPr>
          <a:xfrm>
            <a:off x="457200" y="2286000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HASER label"/>
          <p:cNvSpPr txBox="1"/>
          <p:nvPr/>
        </p:nvSpPr>
        <p:spPr>
          <a:xfrm>
            <a:off x="45720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PHASER</a:t>
            </a:r>
            <a:endParaRPr lang="en-US" sz="1600" dirty="0"/>
          </a:p>
        </p:txBody>
      </p:sp>
      <p:sp>
        <p:nvSpPr>
          <p:cNvPr id="6" name="PHASER code panel"/>
          <p:cNvSpPr/>
          <p:nvPr/>
        </p:nvSpPr>
        <p:spPr>
          <a:xfrm>
            <a:off x="457200" y="2761488"/>
            <a:ext cx="5943600" cy="2751836"/>
          </a:xfrm>
          <a:prstGeom prst="roundRect">
            <a:avLst>
              <a:gd name="adj" fmla="val 26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PHASER code"/>
          <p:cNvSpPr txBox="1"/>
          <p:nvPr/>
        </p:nvSpPr>
        <p:spPr>
          <a:xfrm>
            <a:off x="640080" y="2761488"/>
            <a:ext cx="5577840" cy="275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preload()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this.load.spritesheet("sonic", "sonic.png",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frameWidth: 32, frameHeight: 44 });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this.anims.create({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key: "run",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frames: this.anims.generateFrameNumbers(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"sonic", { start: 0, end: 7 }),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frameRate: 30,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KAPLAY chip"/>
          <p:cNvSpPr/>
          <p:nvPr/>
        </p:nvSpPr>
        <p:spPr>
          <a:xfrm>
            <a:off x="457200" y="5879084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KAPLAY label"/>
          <p:cNvSpPr txBox="1"/>
          <p:nvPr/>
        </p:nvSpPr>
        <p:spPr>
          <a:xfrm>
            <a:off x="457200" y="58790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KAPLAY</a:t>
            </a:r>
            <a:endParaRPr lang="en-US" sz="1600" dirty="0"/>
          </a:p>
        </p:txBody>
      </p:sp>
      <p:sp>
        <p:nvSpPr>
          <p:cNvPr id="10" name="KAPLAY code panel"/>
          <p:cNvSpPr/>
          <p:nvPr/>
        </p:nvSpPr>
        <p:spPr>
          <a:xfrm>
            <a:off x="457200" y="6354572"/>
            <a:ext cx="5943600" cy="1884172"/>
          </a:xfrm>
          <a:prstGeom prst="roundRect">
            <a:avLst>
              <a:gd name="adj" fmla="val 3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KAPLAY code"/>
          <p:cNvSpPr txBox="1"/>
          <p:nvPr/>
        </p:nvSpPr>
        <p:spPr>
          <a:xfrm>
            <a:off x="640080" y="6354572"/>
            <a:ext cx="5577840" cy="188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k.loadSprite("sonic", "sonic.png",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sliceX: 8, sliceY: 2,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anims: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run: { from: 0, to: 7,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loop: true, speed: 30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12" name="nota"/>
          <p:cNvSpPr/>
          <p:nvPr/>
        </p:nvSpPr>
        <p:spPr>
          <a:xfrm>
            <a:off x="457200" y="8604504"/>
            <a:ext cx="59436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ota texto"/>
          <p:cNvSpPr txBox="1"/>
          <p:nvPr/>
        </p:nvSpPr>
        <p:spPr>
          <a:xfrm>
            <a:off x="685800" y="8604504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QUE NOTAR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Sonic em Phaser, esse trabalho ocupa uma cena Loader inteira (108 linhas), e cada textura ainda recebe setFilter(NEAREST) à mão para o pixel art.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PASSO 3: O PERSONAGEM QUE PULA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Corpo físico, hitbox e pulo.</a:t>
            </a:r>
            <a:endParaRPr lang="en-US" sz="1600" dirty="0"/>
          </a:p>
        </p:txBody>
      </p:sp>
      <p:sp>
        <p:nvSpPr>
          <p:cNvPr id="4" name="PHASER chip"/>
          <p:cNvSpPr/>
          <p:nvPr/>
        </p:nvSpPr>
        <p:spPr>
          <a:xfrm>
            <a:off x="457200" y="2286000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HASER label"/>
          <p:cNvSpPr txBox="1"/>
          <p:nvPr/>
        </p:nvSpPr>
        <p:spPr>
          <a:xfrm>
            <a:off x="45720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PHASER</a:t>
            </a:r>
            <a:endParaRPr lang="en-US" sz="1600" dirty="0"/>
          </a:p>
        </p:txBody>
      </p:sp>
      <p:sp>
        <p:nvSpPr>
          <p:cNvPr id="6" name="PHASER code panel"/>
          <p:cNvSpPr/>
          <p:nvPr/>
        </p:nvSpPr>
        <p:spPr>
          <a:xfrm>
            <a:off x="457200" y="2761488"/>
            <a:ext cx="5943600" cy="3185668"/>
          </a:xfrm>
          <a:prstGeom prst="roundRect">
            <a:avLst>
              <a:gd name="adj" fmla="val 22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PHASER code"/>
          <p:cNvSpPr txBox="1"/>
          <p:nvPr/>
        </p:nvSpPr>
        <p:spPr>
          <a:xfrm>
            <a:off x="640080" y="2761488"/>
            <a:ext cx="5577840" cy="3185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Sonic extends Phaser.GameObjects.Sprite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constructor(scene, x, y)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super(scene, x, y);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scene.add.existing(this);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scene.physics.add.existing(this);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this.body.setSize(22, 26);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this.body.setOffset(5, 18);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jump()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(!this.body.blocked.down) return;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this.body.setVelocityY(-2100);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KAPLAY chip"/>
          <p:cNvSpPr/>
          <p:nvPr/>
        </p:nvSpPr>
        <p:spPr>
          <a:xfrm>
            <a:off x="457200" y="6312916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KAPLAY label"/>
          <p:cNvSpPr txBox="1"/>
          <p:nvPr/>
        </p:nvSpPr>
        <p:spPr>
          <a:xfrm>
            <a:off x="457200" y="63129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KAPLAY</a:t>
            </a:r>
            <a:endParaRPr lang="en-US" sz="1600" dirty="0"/>
          </a:p>
        </p:txBody>
      </p:sp>
      <p:sp>
        <p:nvSpPr>
          <p:cNvPr id="10" name="KAPLAY code panel"/>
          <p:cNvSpPr/>
          <p:nvPr/>
        </p:nvSpPr>
        <p:spPr>
          <a:xfrm>
            <a:off x="457200" y="6788404"/>
            <a:ext cx="5943600" cy="2101088"/>
          </a:xfrm>
          <a:prstGeom prst="roundRect">
            <a:avLst>
              <a:gd name="adj" fmla="val 34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KAPLAY code"/>
          <p:cNvSpPr txBox="1"/>
          <p:nvPr/>
        </p:nvSpPr>
        <p:spPr>
          <a:xfrm>
            <a:off x="640080" y="6788404"/>
            <a:ext cx="5577840" cy="2101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sonic = k.add([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k.sprite("sonic", { anim: "run" }),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k.pos(200, 745),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k.area(),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k.body({ jumpForce: 1700 }),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(sonic.isGrounded()) sonic.jump();</a:t>
            </a:r>
            <a:endParaRPr lang="en-US" sz="1400" dirty="0"/>
          </a:p>
        </p:txBody>
      </p:sp>
      <p:sp>
        <p:nvSpPr>
          <p:cNvPr id="12" name="nota"/>
          <p:cNvSpPr/>
          <p:nvPr/>
        </p:nvSpPr>
        <p:spPr>
          <a:xfrm>
            <a:off x="457200" y="9255252"/>
            <a:ext cx="5943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ota texto"/>
          <p:cNvSpPr txBox="1"/>
          <p:nvPr/>
        </p:nvSpPr>
        <p:spPr>
          <a:xfrm>
            <a:off x="685800" y="9255252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QUE NOTAR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Phaser permite evitar classes e escrever com funções. O repo do Sonic usa classes, por isso aparecem extends, super e this.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PASSO 4: COLISÃO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Sonic encosta em um inimigo. Grupo contra tag.</a:t>
            </a:r>
            <a:endParaRPr lang="en-US" sz="1600" dirty="0"/>
          </a:p>
        </p:txBody>
      </p:sp>
      <p:sp>
        <p:nvSpPr>
          <p:cNvPr id="4" name="PHASER chip"/>
          <p:cNvSpPr/>
          <p:nvPr/>
        </p:nvSpPr>
        <p:spPr>
          <a:xfrm>
            <a:off x="457200" y="2286000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HASER label"/>
          <p:cNvSpPr txBox="1"/>
          <p:nvPr/>
        </p:nvSpPr>
        <p:spPr>
          <a:xfrm>
            <a:off x="45720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PHASER</a:t>
            </a:r>
            <a:endParaRPr lang="en-US" sz="1600" dirty="0"/>
          </a:p>
        </p:txBody>
      </p:sp>
      <p:sp>
        <p:nvSpPr>
          <p:cNvPr id="6" name="PHASER code panel"/>
          <p:cNvSpPr/>
          <p:nvPr/>
        </p:nvSpPr>
        <p:spPr>
          <a:xfrm>
            <a:off x="457200" y="2761488"/>
            <a:ext cx="5943600" cy="2101088"/>
          </a:xfrm>
          <a:prstGeom prst="roundRect">
            <a:avLst>
              <a:gd name="adj" fmla="val 34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PHASER code"/>
          <p:cNvSpPr txBox="1"/>
          <p:nvPr/>
        </p:nvSpPr>
        <p:spPr>
          <a:xfrm>
            <a:off x="640080" y="2761488"/>
            <a:ext cx="5577840" cy="2101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this.motobugs = this.add.group();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this.physics.add.collider(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this.sonic, this.motobugs,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(_, motobug)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motobug.destroy();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this.score += 10;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</p:txBody>
      </p:sp>
      <p:sp>
        <p:nvSpPr>
          <p:cNvPr id="8" name="KAPLAY chip"/>
          <p:cNvSpPr/>
          <p:nvPr/>
        </p:nvSpPr>
        <p:spPr>
          <a:xfrm>
            <a:off x="457200" y="5228336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KAPLAY label"/>
          <p:cNvSpPr txBox="1"/>
          <p:nvPr/>
        </p:nvSpPr>
        <p:spPr>
          <a:xfrm>
            <a:off x="457200" y="52283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KAPLAY</a:t>
            </a:r>
            <a:endParaRPr lang="en-US" sz="1600" dirty="0"/>
          </a:p>
        </p:txBody>
      </p:sp>
      <p:sp>
        <p:nvSpPr>
          <p:cNvPr id="10" name="KAPLAY code panel"/>
          <p:cNvSpPr/>
          <p:nvPr/>
        </p:nvSpPr>
        <p:spPr>
          <a:xfrm>
            <a:off x="457200" y="5703824"/>
            <a:ext cx="5943600" cy="1667256"/>
          </a:xfrm>
          <a:prstGeom prst="roundRect">
            <a:avLst>
              <a:gd name="adj" fmla="val 43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KAPLAY code"/>
          <p:cNvSpPr txBox="1"/>
          <p:nvPr/>
        </p:nvSpPr>
        <p:spPr>
          <a:xfrm>
            <a:off x="640080" y="5703824"/>
            <a:ext cx="5577840" cy="166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motobug nasce com a tag "enemy"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sonic.onCollide("enemy", (enemy)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k.destroy(enemy);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+= 10;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12" name="nota"/>
          <p:cNvSpPr/>
          <p:nvPr/>
        </p:nvSpPr>
        <p:spPr>
          <a:xfrm>
            <a:off x="457200" y="7736840"/>
            <a:ext cx="59436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ota texto"/>
          <p:cNvSpPr txBox="1"/>
          <p:nvPr/>
        </p:nvSpPr>
        <p:spPr>
          <a:xfrm>
            <a:off x="685800" y="77368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QUE NOTAR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Mesmo resultado, outro modelo mental: no Phaser você cria um grupo e liga os dois lados. No Kaplay você escreve uma etiqueta no objeto e escuta por ela.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QUE O ALUNO CARREGA NA CABEÇA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Conceitos que aparecem no código do Sonic antes do jogo funcionar.</a:t>
            </a:r>
            <a:endParaRPr lang="en-US" sz="1600" dirty="0"/>
          </a:p>
        </p:txBody>
      </p:sp>
      <p:sp>
        <p:nvSpPr>
          <p:cNvPr id="4" name="PHASER col chip"/>
          <p:cNvSpPr/>
          <p:nvPr/>
        </p:nvSpPr>
        <p:spPr>
          <a:xfrm>
            <a:off x="457200" y="2286000"/>
            <a:ext cx="288036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HASER col label"/>
          <p:cNvSpPr txBox="1"/>
          <p:nvPr/>
        </p:nvSpPr>
        <p:spPr>
          <a:xfrm>
            <a:off x="457200" y="2286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PHASER</a:t>
            </a:r>
            <a:endParaRPr lang="en-US" sz="1600" dirty="0"/>
          </a:p>
        </p:txBody>
      </p:sp>
      <p:sp>
        <p:nvSpPr>
          <p:cNvPr id="6" name="PHASER lista fundo"/>
          <p:cNvSpPr/>
          <p:nvPr/>
        </p:nvSpPr>
        <p:spPr>
          <a:xfrm>
            <a:off x="457200" y="2834640"/>
            <a:ext cx="2880360" cy="576072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HASER lista"/>
          <p:cNvSpPr txBox="1"/>
          <p:nvPr/>
        </p:nvSpPr>
        <p:spPr>
          <a:xfrm>
            <a:off x="640080" y="2971800"/>
            <a:ext cx="25146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class, extends e super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dentro de callbacks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Ciclo preload, create e update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Cena separada só para carregar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Grupos e colliders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Hitbox: setSize e setOffset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Scene key e scene.start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Scale Manager (FIT, CENTER)</a:t>
            </a:r>
            <a:endParaRPr lang="en-US" sz="1600" dirty="0"/>
          </a:p>
        </p:txBody>
      </p:sp>
      <p:sp>
        <p:nvSpPr>
          <p:cNvPr id="8" name="KAPLAY col chip"/>
          <p:cNvSpPr/>
          <p:nvPr/>
        </p:nvSpPr>
        <p:spPr>
          <a:xfrm>
            <a:off x="3520440" y="2286000"/>
            <a:ext cx="288036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KAPLAY col label"/>
          <p:cNvSpPr txBox="1"/>
          <p:nvPr/>
        </p:nvSpPr>
        <p:spPr>
          <a:xfrm>
            <a:off x="3520440" y="2286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KAPLAY</a:t>
            </a:r>
            <a:endParaRPr lang="en-US" sz="1600" dirty="0"/>
          </a:p>
        </p:txBody>
      </p:sp>
      <p:sp>
        <p:nvSpPr>
          <p:cNvPr id="10" name="KAPLAY lista fundo"/>
          <p:cNvSpPr/>
          <p:nvPr/>
        </p:nvSpPr>
        <p:spPr>
          <a:xfrm>
            <a:off x="3520440" y="2834640"/>
            <a:ext cx="2880360" cy="576072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APLAY lista"/>
          <p:cNvSpPr txBox="1"/>
          <p:nvPr/>
        </p:nvSpPr>
        <p:spPr>
          <a:xfrm>
            <a:off x="3703320" y="2971800"/>
            <a:ext cx="25146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Lista de componentes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Tags como strings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Callbacks: onUpdate, onCollide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Contexto k importado ou global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Padrão makeSonic() do autor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Mover fundo na mão (move, moveTo)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Botões nomeados na config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Cenas com k.scene e k.go</a:t>
            </a:r>
            <a:endParaRPr lang="en-US" sz="1600" dirty="0"/>
          </a:p>
        </p:txBody>
      </p:sp>
      <p:sp>
        <p:nvSpPr>
          <p:cNvPr id="12" name="nota"/>
          <p:cNvSpPr/>
          <p:nvPr/>
        </p:nvSpPr>
        <p:spPr>
          <a:xfrm>
            <a:off x="457200" y="8869680"/>
            <a:ext cx="59436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ota texto"/>
          <p:cNvSpPr txBox="1"/>
          <p:nvPr/>
        </p:nvSpPr>
        <p:spPr>
          <a:xfrm>
            <a:off x="685800" y="88696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EM COMUM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Números mágicos (1950, 773, 0.6/0.4), funções assíncronas e organização em vários arquivos aparecem nos dois repositórios.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ARMADILHAS NO PRÓPRIO SONIC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Coisas que o autor teve que contornar. Cada lado tem as suas.</a:t>
            </a:r>
            <a:endParaRPr lang="en-US" sz="1600" dirty="0"/>
          </a:p>
        </p:txBody>
      </p:sp>
      <p:sp>
        <p:nvSpPr>
          <p:cNvPr id="4" name="PHASER card"/>
          <p:cNvSpPr/>
          <p:nvPr/>
        </p:nvSpPr>
        <p:spPr>
          <a:xfrm>
            <a:off x="457200" y="2286000"/>
            <a:ext cx="59436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HASER chip"/>
          <p:cNvSpPr/>
          <p:nvPr/>
        </p:nvSpPr>
        <p:spPr>
          <a:xfrm>
            <a:off x="685800" y="2514600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HASER label"/>
          <p:cNvSpPr txBox="1"/>
          <p:nvPr/>
        </p:nvSpPr>
        <p:spPr>
          <a:xfrm>
            <a:off x="685800" y="2514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PHASER</a:t>
            </a:r>
            <a:endParaRPr lang="en-US" sz="1600" dirty="0"/>
          </a:p>
        </p:txBody>
      </p:sp>
      <p:sp>
        <p:nvSpPr>
          <p:cNvPr id="7" name="PHASER texto"/>
          <p:cNvSpPr txBox="1"/>
          <p:nvPr/>
        </p:nvSpPr>
        <p:spPr>
          <a:xfrm>
            <a:off x="685800" y="30632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Fundo infinito é fácil, com ressalvas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tileSprite rola o fundo com uma linha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Comentário no código: a imagem precisa ter dimensões em potência de 2, senão fica borrada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Fonte e assets exigem async/await na cena Loader</a:t>
            </a:r>
            <a:endParaRPr lang="en-US" sz="1800" dirty="0"/>
          </a:p>
        </p:txBody>
      </p:sp>
      <p:sp>
        <p:nvSpPr>
          <p:cNvPr id="8" name="KAPLAY card"/>
          <p:cNvSpPr/>
          <p:nvPr/>
        </p:nvSpPr>
        <p:spPr>
          <a:xfrm>
            <a:off x="457200" y="5760720"/>
            <a:ext cx="59436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APLAY chip"/>
          <p:cNvSpPr/>
          <p:nvPr/>
        </p:nvSpPr>
        <p:spPr>
          <a:xfrm>
            <a:off x="685800" y="5989320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KAPLAY label"/>
          <p:cNvSpPr txBox="1"/>
          <p:nvPr/>
        </p:nvSpPr>
        <p:spPr>
          <a:xfrm>
            <a:off x="685800" y="5989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KAPLAY</a:t>
            </a:r>
            <a:endParaRPr lang="en-US" sz="1600" dirty="0"/>
          </a:p>
        </p:txBody>
      </p:sp>
      <p:sp>
        <p:nvSpPr>
          <p:cNvPr id="11" name="KAPLAY texto"/>
          <p:cNvSpPr txBox="1"/>
          <p:nvPr/>
        </p:nvSpPr>
        <p:spPr>
          <a:xfrm>
            <a:off x="685800" y="653796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Menos estrutura, mais artesanal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Fundo infinito: dois sprites reposicionados na mão (push e shift)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Versão fixada é alpha, e muito tutorial usa a API antiga do Kaboom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Hitbox customizada ainda aparece no inimigo (k.Rect)</a:t>
            </a:r>
            <a:endParaRPr lang="en-US" sz="1800" dirty="0"/>
          </a:p>
        </p:txBody>
      </p:sp>
      <p:sp>
        <p:nvSpPr>
          <p:cNvPr id="12" name="nota"/>
          <p:cNvSpPr/>
          <p:nvPr/>
        </p:nvSpPr>
        <p:spPr>
          <a:xfrm>
            <a:off x="457200" y="9235440"/>
            <a:ext cx="59436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ota texto"/>
          <p:cNvSpPr txBox="1"/>
          <p:nvPr/>
        </p:nvSpPr>
        <p:spPr>
          <a:xfrm>
            <a:off x="685800" y="92354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PARA PENSAR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Qual tipo de dificuldade seus alunos aguentam melhor: entender uma estrutura, ou montar uma peça na mão?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ECOSSISTEMA E RECURSOS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Critérios que costumam pesar em um curso. Confira nas versões que for usar.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945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PHASER</a:t>
                      </a:r>
                      <a:endParaRPr lang="en-US" sz="18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KAPLAY</a:t>
                      </a:r>
                      <a:endParaRPr lang="en-US" sz="18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Material de apoio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Muitos tutoriais e exemplos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Menos material; parte usa a API antiga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Ajuda da IA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Muito código público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Menos exemplos; pode misturar versões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Tela e celular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Scale Manager (FIT, RESIZE)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letterbox / stretch na config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Teclado e pointer em handlers separados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Botões nomeados unificam os três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Sacudir o celular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Não nativo: API do navegador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Não nativo: API do navegador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Publicar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HTML estático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HTML estático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Projeto grande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Tilemaps, física e cenas robustas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Tende a ser mais indicado a projetos menores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457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PERGUNTAS ANTES DE ESCOLHER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Respostas que só você tem. Elas decidem mais que esta comparação.</a:t>
            </a:r>
            <a:endParaRPr lang="en-US" sz="1600" dirty="0"/>
          </a:p>
        </p:txBody>
      </p:sp>
      <p:sp>
        <p:nvSpPr>
          <p:cNvPr id="4" name="pergunta 1 card"/>
          <p:cNvSpPr/>
          <p:nvPr/>
        </p:nvSpPr>
        <p:spPr>
          <a:xfrm>
            <a:off x="457200" y="2377440"/>
            <a:ext cx="5943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ergunta 1 num fundo"/>
          <p:cNvSpPr/>
          <p:nvPr/>
        </p:nvSpPr>
        <p:spPr>
          <a:xfrm>
            <a:off x="685800" y="2788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 1 num"/>
          <p:cNvSpPr txBox="1"/>
          <p:nvPr/>
        </p:nvSpPr>
        <p:spPr>
          <a:xfrm>
            <a:off x="68580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pergunta 1 texto"/>
          <p:cNvSpPr txBox="1"/>
          <p:nvPr/>
        </p:nvSpPr>
        <p:spPr>
          <a:xfrm>
            <a:off x="1508760" y="237744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 edital ou contrato cita alguma ferramenta?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 cita, a escolha já está feita.</a:t>
            </a:r>
            <a:endParaRPr lang="en-US" sz="1600" dirty="0"/>
          </a:p>
        </p:txBody>
      </p:sp>
      <p:sp>
        <p:nvSpPr>
          <p:cNvPr id="8" name="pergunta 2 card"/>
          <p:cNvSpPr/>
          <p:nvPr/>
        </p:nvSpPr>
        <p:spPr>
          <a:xfrm>
            <a:off x="457200" y="3977640"/>
            <a:ext cx="5943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ergunta 2 num fundo"/>
          <p:cNvSpPr/>
          <p:nvPr/>
        </p:nvSpPr>
        <p:spPr>
          <a:xfrm>
            <a:off x="685800" y="43891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ergunta 2 num"/>
          <p:cNvSpPr txBox="1"/>
          <p:nvPr/>
        </p:nvSpPr>
        <p:spPr>
          <a:xfrm>
            <a:off x="68580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pergunta 2 texto"/>
          <p:cNvSpPr txBox="1"/>
          <p:nvPr/>
        </p:nvSpPr>
        <p:spPr>
          <a:xfrm>
            <a:off x="1508760" y="397764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Alguma aula já foi gravada ou vendida com um nome?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Trocar depois tem custo de regravação.</a:t>
            </a:r>
            <a:endParaRPr lang="en-US" sz="1600" dirty="0"/>
          </a:p>
        </p:txBody>
      </p:sp>
      <p:sp>
        <p:nvSpPr>
          <p:cNvPr id="12" name="pergunta 3 card"/>
          <p:cNvSpPr/>
          <p:nvPr/>
        </p:nvSpPr>
        <p:spPr>
          <a:xfrm>
            <a:off x="457200" y="5577840"/>
            <a:ext cx="5943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ergunta 3 num fundo"/>
          <p:cNvSpPr/>
          <p:nvPr/>
        </p:nvSpPr>
        <p:spPr>
          <a:xfrm>
            <a:off x="685800" y="5989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ergunta 3 num"/>
          <p:cNvSpPr txBox="1"/>
          <p:nvPr/>
        </p:nvSpPr>
        <p:spPr>
          <a:xfrm>
            <a:off x="685800" y="5989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pergunta 3 texto"/>
          <p:cNvSpPr txBox="1"/>
          <p:nvPr/>
        </p:nvSpPr>
        <p:spPr>
          <a:xfrm>
            <a:off x="1508760" y="557784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Os alunos vão pedir código para uma IA?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Eles precisam ler e julgar o que volta.</a:t>
            </a:r>
            <a:endParaRPr lang="en-US" sz="1600" dirty="0"/>
          </a:p>
        </p:txBody>
      </p:sp>
      <p:sp>
        <p:nvSpPr>
          <p:cNvPr id="16" name="pergunta 4 card"/>
          <p:cNvSpPr/>
          <p:nvPr/>
        </p:nvSpPr>
        <p:spPr>
          <a:xfrm>
            <a:off x="457200" y="7178040"/>
            <a:ext cx="5943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ergunta 4 num fundo"/>
          <p:cNvSpPr/>
          <p:nvPr/>
        </p:nvSpPr>
        <p:spPr>
          <a:xfrm>
            <a:off x="685800" y="7589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ergunta 4 num"/>
          <p:cNvSpPr txBox="1"/>
          <p:nvPr/>
        </p:nvSpPr>
        <p:spPr>
          <a:xfrm>
            <a:off x="685800" y="7589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pergunta 4 texto"/>
          <p:cNvSpPr txBox="1"/>
          <p:nvPr/>
        </p:nvSpPr>
        <p:spPr>
          <a:xfrm>
            <a:off x="1508760" y="717804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 curso exige celular, sensores ou tela responsiva?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Isso pesa no controle de escala e input.</a:t>
            </a:r>
            <a:endParaRPr lang="en-US" sz="1600" dirty="0"/>
          </a:p>
        </p:txBody>
      </p:sp>
      <p:sp>
        <p:nvSpPr>
          <p:cNvPr id="20" name="pergunta 5 card"/>
          <p:cNvSpPr/>
          <p:nvPr/>
        </p:nvSpPr>
        <p:spPr>
          <a:xfrm>
            <a:off x="457200" y="8778240"/>
            <a:ext cx="5943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ergunta 5 num fundo"/>
          <p:cNvSpPr/>
          <p:nvPr/>
        </p:nvSpPr>
        <p:spPr>
          <a:xfrm>
            <a:off x="685800" y="9189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pergunta 5 num"/>
          <p:cNvSpPr txBox="1"/>
          <p:nvPr/>
        </p:nvSpPr>
        <p:spPr>
          <a:xfrm>
            <a:off x="685800" y="9189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pergunta 5 texto"/>
          <p:cNvSpPr txBox="1"/>
          <p:nvPr/>
        </p:nvSpPr>
        <p:spPr>
          <a:xfrm>
            <a:off x="1508760" y="877824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Quanto tempo de aula pode ir para estrutura?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Antes do primeiro jogo funcionando.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43600" y="11658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9144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FONTES</a:t>
            </a:r>
            <a:endParaRPr lang="en-US" sz="6000" dirty="0"/>
          </a:p>
        </p:txBody>
      </p:sp>
      <p:sp>
        <p:nvSpPr>
          <p:cNvPr id="3" name="fontes"/>
          <p:cNvSpPr txBox="1"/>
          <p:nvPr/>
        </p:nvSpPr>
        <p:spPr>
          <a:xfrm>
            <a:off x="457200" y="256032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Código analisado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github.com/JSLegendDev/sonic-runner (Kaplay)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github.com/JSLegendDev/sonic-runner-phaser-tutorial (Phaser)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Como foi contado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Linhas de código na pasta src/ de cada repositório (wc -l). Os projetos não têm exatamente as mesmas telas, então o total não compara recursos idênticos.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Versões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phaser 4.0.0-rc.5 · kaplay 3001.0.0-alpha.21, conforme o package.json de cada repo.</a:t>
            </a:r>
            <a:endParaRPr lang="en-US" sz="2200" dirty="0"/>
          </a:p>
        </p:txBody>
      </p:sp>
      <p:sp>
        <p:nvSpPr>
          <p:cNvPr id="4" name="placa logo"/>
          <p:cNvSpPr/>
          <p:nvPr/>
        </p:nvSpPr>
        <p:spPr>
          <a:xfrm>
            <a:off x="457200" y="969264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" descr="Logo +ROBO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784080"/>
            <a:ext cx="2194560" cy="12618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isRobotic">
  <a:themeElements>
    <a:clrScheme name="MaisRobotic">
      <a:dk1>
        <a:srgbClr val="123F63"/>
      </a:dk1>
      <a:lt1>
        <a:srgbClr val="FFFFFF"/>
      </a:lt1>
      <a:dk2>
        <a:srgbClr val="0B2A44"/>
      </a:dk2>
      <a:lt2>
        <a:srgbClr val="EEF2F7"/>
      </a:lt2>
      <a:accent1>
        <a:srgbClr val="16A89C"/>
      </a:accent1>
      <a:accent2>
        <a:srgbClr val="123F63"/>
      </a:accent2>
      <a:accent3>
        <a:srgbClr val="F2A63B"/>
      </a:accent3>
      <a:accent4>
        <a:srgbClr val="BCD230"/>
      </a:accent4>
      <a:accent5>
        <a:srgbClr val="8FA3C4"/>
      </a:accent5>
      <a:accent6>
        <a:srgbClr val="5B6B7F"/>
      </a:accent6>
      <a:hlink>
        <a:srgbClr val="16A89C"/>
      </a:hlink>
      <a:folHlink>
        <a:srgbClr val="8FA3C4"/>
      </a:folHlink>
    </a:clrScheme>
    <a:fontScheme name="MaisRobotic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Phaser vs Kaplay</dc:title>
  <dc:subject>PptxGenJS Presentation</dc:subject>
  <dc:creator>+ROBOTIC</dc:creator>
  <cp:lastModifiedBy>+ROBOTIC</cp:lastModifiedBy>
  <cp:revision>1</cp:revision>
  <dcterms:created xsi:type="dcterms:W3CDTF">2026-10-14T13:10:32Z</dcterms:created>
  <dcterms:modified xsi:type="dcterms:W3CDTF">2026-10-14T13:10:32Z</dcterms:modified>
</cp:coreProperties>
</file>